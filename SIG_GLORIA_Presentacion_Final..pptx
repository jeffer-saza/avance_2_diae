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Lucero" userId="f4af031dafeb2177" providerId="LiveId" clId="{631748E2-25F9-47E9-949A-882DFFFD9A5D}"/>
    <pc:docChg chg="undo custSel modSld">
      <pc:chgData name="Diego Lucero" userId="f4af031dafeb2177" providerId="LiveId" clId="{631748E2-25F9-47E9-949A-882DFFFD9A5D}" dt="2026-07-01T18:49:41.557" v="53" actId="1076"/>
      <pc:docMkLst>
        <pc:docMk/>
      </pc:docMkLst>
      <pc:sldChg chg="modSp mod">
        <pc:chgData name="Diego Lucero" userId="f4af031dafeb2177" providerId="LiveId" clId="{631748E2-25F9-47E9-949A-882DFFFD9A5D}" dt="2026-07-01T18:43:32.039" v="9" actId="1076"/>
        <pc:sldMkLst>
          <pc:docMk/>
          <pc:sldMk cId="503556581" sldId="256"/>
        </pc:sldMkLst>
        <pc:spChg chg="mod">
          <ac:chgData name="Diego Lucero" userId="f4af031dafeb2177" providerId="LiveId" clId="{631748E2-25F9-47E9-949A-882DFFFD9A5D}" dt="2026-07-01T18:43:26.036" v="7" actId="1076"/>
          <ac:spMkLst>
            <pc:docMk/>
            <pc:sldMk cId="503556581" sldId="256"/>
            <ac:spMk id="2" creationId="{09BB6401-D11D-4188-9D80-50AF798CA3BA}"/>
          </ac:spMkLst>
        </pc:spChg>
        <pc:spChg chg="mod">
          <ac:chgData name="Diego Lucero" userId="f4af031dafeb2177" providerId="LiveId" clId="{631748E2-25F9-47E9-949A-882DFFFD9A5D}" dt="2026-07-01T18:43:32.039" v="9" actId="1076"/>
          <ac:spMkLst>
            <pc:docMk/>
            <pc:sldMk cId="503556581" sldId="256"/>
            <ac:spMk id="3" creationId="{CC7BBB67-A80C-4089-8D5F-31C96CFA3C5D}"/>
          </ac:spMkLst>
        </pc:spChg>
        <pc:spChg chg="mod">
          <ac:chgData name="Diego Lucero" userId="f4af031dafeb2177" providerId="LiveId" clId="{631748E2-25F9-47E9-949A-882DFFFD9A5D}" dt="2026-07-01T18:43:20.548" v="5" actId="1076"/>
          <ac:spMkLst>
            <pc:docMk/>
            <pc:sldMk cId="503556581" sldId="256"/>
            <ac:spMk id="12" creationId="{4EC4CC3E-078A-4EBD-83C1-8F31D02B89DA}"/>
          </ac:spMkLst>
        </pc:spChg>
      </pc:sldChg>
      <pc:sldChg chg="modSp mod">
        <pc:chgData name="Diego Lucero" userId="f4af031dafeb2177" providerId="LiveId" clId="{631748E2-25F9-47E9-949A-882DFFFD9A5D}" dt="2026-07-01T18:45:01.791" v="17" actId="1076"/>
        <pc:sldMkLst>
          <pc:docMk/>
          <pc:sldMk cId="330598277" sldId="258"/>
        </pc:sldMkLst>
        <pc:spChg chg="mod">
          <ac:chgData name="Diego Lucero" userId="f4af031dafeb2177" providerId="LiveId" clId="{631748E2-25F9-47E9-949A-882DFFFD9A5D}" dt="2026-07-01T18:44:28.838" v="10" actId="1076"/>
          <ac:spMkLst>
            <pc:docMk/>
            <pc:sldMk cId="330598277" sldId="258"/>
            <ac:spMk id="6" creationId="{E78A7234-50B6-4C7D-902C-5A7CB88504B1}"/>
          </ac:spMkLst>
        </pc:spChg>
        <pc:spChg chg="mod">
          <ac:chgData name="Diego Lucero" userId="f4af031dafeb2177" providerId="LiveId" clId="{631748E2-25F9-47E9-949A-882DFFFD9A5D}" dt="2026-07-01T18:44:37.915" v="12" actId="1076"/>
          <ac:spMkLst>
            <pc:docMk/>
            <pc:sldMk cId="330598277" sldId="258"/>
            <ac:spMk id="7" creationId="{9B9DFF13-6359-4AE4-8845-317DBFC6E710}"/>
          </ac:spMkLst>
        </pc:spChg>
        <pc:spChg chg="mod">
          <ac:chgData name="Diego Lucero" userId="f4af031dafeb2177" providerId="LiveId" clId="{631748E2-25F9-47E9-949A-882DFFFD9A5D}" dt="2026-07-01T18:44:33.380" v="11" actId="1076"/>
          <ac:spMkLst>
            <pc:docMk/>
            <pc:sldMk cId="330598277" sldId="258"/>
            <ac:spMk id="8" creationId="{B64CAFAC-C312-4446-BA58-EDE0891F9CFE}"/>
          </ac:spMkLst>
        </pc:spChg>
        <pc:spChg chg="mod">
          <ac:chgData name="Diego Lucero" userId="f4af031dafeb2177" providerId="LiveId" clId="{631748E2-25F9-47E9-949A-882DFFFD9A5D}" dt="2026-07-01T18:44:57.295" v="16" actId="1076"/>
          <ac:spMkLst>
            <pc:docMk/>
            <pc:sldMk cId="330598277" sldId="258"/>
            <ac:spMk id="9" creationId="{100EA228-5936-4C02-9244-29F251556122}"/>
          </ac:spMkLst>
        </pc:spChg>
        <pc:spChg chg="mod">
          <ac:chgData name="Diego Lucero" userId="f4af031dafeb2177" providerId="LiveId" clId="{631748E2-25F9-47E9-949A-882DFFFD9A5D}" dt="2026-07-01T18:45:01.791" v="17" actId="1076"/>
          <ac:spMkLst>
            <pc:docMk/>
            <pc:sldMk cId="330598277" sldId="258"/>
            <ac:spMk id="10" creationId="{CF5A743B-2BFF-431A-9CEF-493C6F2C522C}"/>
          </ac:spMkLst>
        </pc:spChg>
        <pc:spChg chg="mod">
          <ac:chgData name="Diego Lucero" userId="f4af031dafeb2177" providerId="LiveId" clId="{631748E2-25F9-47E9-949A-882DFFFD9A5D}" dt="2026-07-01T18:44:51.863" v="14" actId="1076"/>
          <ac:spMkLst>
            <pc:docMk/>
            <pc:sldMk cId="330598277" sldId="258"/>
            <ac:spMk id="11" creationId="{3C60263E-2154-4B4A-A941-B65AD5135253}"/>
          </ac:spMkLst>
        </pc:spChg>
      </pc:sldChg>
      <pc:sldChg chg="modSp mod">
        <pc:chgData name="Diego Lucero" userId="f4af031dafeb2177" providerId="LiveId" clId="{631748E2-25F9-47E9-949A-882DFFFD9A5D}" dt="2026-07-01T18:47:09.342" v="23" actId="14100"/>
        <pc:sldMkLst>
          <pc:docMk/>
          <pc:sldMk cId="1322424355" sldId="259"/>
        </pc:sldMkLst>
        <pc:spChg chg="mod">
          <ac:chgData name="Diego Lucero" userId="f4af031dafeb2177" providerId="LiveId" clId="{631748E2-25F9-47E9-949A-882DFFFD9A5D}" dt="2026-07-01T18:47:02.013" v="21" actId="14100"/>
          <ac:spMkLst>
            <pc:docMk/>
            <pc:sldMk cId="1322424355" sldId="259"/>
            <ac:spMk id="6" creationId="{7E87B94D-EE36-4F47-8B67-89008F25C2FF}"/>
          </ac:spMkLst>
        </pc:spChg>
        <pc:spChg chg="mod">
          <ac:chgData name="Diego Lucero" userId="f4af031dafeb2177" providerId="LiveId" clId="{631748E2-25F9-47E9-949A-882DFFFD9A5D}" dt="2026-07-01T18:46:58.204" v="20" actId="14100"/>
          <ac:spMkLst>
            <pc:docMk/>
            <pc:sldMk cId="1322424355" sldId="259"/>
            <ac:spMk id="9" creationId="{983003DD-0614-491F-BE16-18B762B518F6}"/>
          </ac:spMkLst>
        </pc:spChg>
        <pc:spChg chg="mod">
          <ac:chgData name="Diego Lucero" userId="f4af031dafeb2177" providerId="LiveId" clId="{631748E2-25F9-47E9-949A-882DFFFD9A5D}" dt="2026-07-01T18:47:06.295" v="22" actId="14100"/>
          <ac:spMkLst>
            <pc:docMk/>
            <pc:sldMk cId="1322424355" sldId="259"/>
            <ac:spMk id="12" creationId="{3141CF69-3BE2-4841-8980-EAE0A9B2A53F}"/>
          </ac:spMkLst>
        </pc:spChg>
        <pc:spChg chg="mod">
          <ac:chgData name="Diego Lucero" userId="f4af031dafeb2177" providerId="LiveId" clId="{631748E2-25F9-47E9-949A-882DFFFD9A5D}" dt="2026-07-01T18:47:09.342" v="23" actId="14100"/>
          <ac:spMkLst>
            <pc:docMk/>
            <pc:sldMk cId="1322424355" sldId="259"/>
            <ac:spMk id="15" creationId="{10B462CD-1977-4FC2-AA4C-332FE81C9B58}"/>
          </ac:spMkLst>
        </pc:spChg>
      </pc:sldChg>
      <pc:sldChg chg="modSp mod">
        <pc:chgData name="Diego Lucero" userId="f4af031dafeb2177" providerId="LiveId" clId="{631748E2-25F9-47E9-949A-882DFFFD9A5D}" dt="2026-07-01T18:49:41.557" v="53" actId="1076"/>
        <pc:sldMkLst>
          <pc:docMk/>
          <pc:sldMk cId="1854710654" sldId="262"/>
        </pc:sldMkLst>
        <pc:spChg chg="mod">
          <ac:chgData name="Diego Lucero" userId="f4af031dafeb2177" providerId="LiveId" clId="{631748E2-25F9-47E9-949A-882DFFFD9A5D}" dt="2026-07-01T18:48:51.585" v="46" actId="1076"/>
          <ac:spMkLst>
            <pc:docMk/>
            <pc:sldMk cId="1854710654" sldId="262"/>
            <ac:spMk id="6" creationId="{1808E70C-CEE3-45BE-BA40-E119D245520D}"/>
          </ac:spMkLst>
        </pc:spChg>
        <pc:spChg chg="mod">
          <ac:chgData name="Diego Lucero" userId="f4af031dafeb2177" providerId="LiveId" clId="{631748E2-25F9-47E9-949A-882DFFFD9A5D}" dt="2026-07-01T18:49:07.581" v="47" actId="1076"/>
          <ac:spMkLst>
            <pc:docMk/>
            <pc:sldMk cId="1854710654" sldId="262"/>
            <ac:spMk id="10" creationId="{2440F625-B87B-4B18-A3FE-3554E8470BEE}"/>
          </ac:spMkLst>
        </pc:spChg>
        <pc:spChg chg="mod">
          <ac:chgData name="Diego Lucero" userId="f4af031dafeb2177" providerId="LiveId" clId="{631748E2-25F9-47E9-949A-882DFFFD9A5D}" dt="2026-07-01T18:49:12.835" v="49" actId="1076"/>
          <ac:spMkLst>
            <pc:docMk/>
            <pc:sldMk cId="1854710654" sldId="262"/>
            <ac:spMk id="11" creationId="{E9D87011-6247-494D-B951-AAA71761FCB8}"/>
          </ac:spMkLst>
        </pc:spChg>
        <pc:spChg chg="mod">
          <ac:chgData name="Diego Lucero" userId="f4af031dafeb2177" providerId="LiveId" clId="{631748E2-25F9-47E9-949A-882DFFFD9A5D}" dt="2026-07-01T18:49:30.764" v="51" actId="1076"/>
          <ac:spMkLst>
            <pc:docMk/>
            <pc:sldMk cId="1854710654" sldId="262"/>
            <ac:spMk id="15" creationId="{D8427FB5-1A1F-4A11-AF79-052F0B8770B8}"/>
          </ac:spMkLst>
        </pc:spChg>
        <pc:spChg chg="mod">
          <ac:chgData name="Diego Lucero" userId="f4af031dafeb2177" providerId="LiveId" clId="{631748E2-25F9-47E9-949A-882DFFFD9A5D}" dt="2026-07-01T18:48:33.926" v="38" actId="14100"/>
          <ac:spMkLst>
            <pc:docMk/>
            <pc:sldMk cId="1854710654" sldId="262"/>
            <ac:spMk id="16" creationId="{4FC6568C-88A0-4EB7-86D6-7DF073038FAD}"/>
          </ac:spMkLst>
        </pc:spChg>
        <pc:spChg chg="mod">
          <ac:chgData name="Diego Lucero" userId="f4af031dafeb2177" providerId="LiveId" clId="{631748E2-25F9-47E9-949A-882DFFFD9A5D}" dt="2026-07-01T18:48:18.184" v="34" actId="20577"/>
          <ac:spMkLst>
            <pc:docMk/>
            <pc:sldMk cId="1854710654" sldId="262"/>
            <ac:spMk id="19" creationId="{E9192156-0B90-4864-9B0A-544EC2DDB073}"/>
          </ac:spMkLst>
        </pc:spChg>
        <pc:spChg chg="mod">
          <ac:chgData name="Diego Lucero" userId="f4af031dafeb2177" providerId="LiveId" clId="{631748E2-25F9-47E9-949A-882DFFFD9A5D}" dt="2026-07-01T18:48:30.541" v="37" actId="1076"/>
          <ac:spMkLst>
            <pc:docMk/>
            <pc:sldMk cId="1854710654" sldId="262"/>
            <ac:spMk id="20" creationId="{52330909-C745-4096-ADF3-B6CDF4B67C96}"/>
          </ac:spMkLst>
        </pc:spChg>
        <pc:spChg chg="mod">
          <ac:chgData name="Diego Lucero" userId="f4af031dafeb2177" providerId="LiveId" clId="{631748E2-25F9-47E9-949A-882DFFFD9A5D}" dt="2026-07-01T18:48:38.521" v="40" actId="14100"/>
          <ac:spMkLst>
            <pc:docMk/>
            <pc:sldMk cId="1854710654" sldId="262"/>
            <ac:spMk id="21" creationId="{F9FC6DCE-47B4-4AE9-9BFD-EDD85CB40158}"/>
          </ac:spMkLst>
        </pc:spChg>
        <pc:spChg chg="mod">
          <ac:chgData name="Diego Lucero" userId="f4af031dafeb2177" providerId="LiveId" clId="{631748E2-25F9-47E9-949A-882DFFFD9A5D}" dt="2026-07-01T18:49:41.557" v="53" actId="1076"/>
          <ac:spMkLst>
            <pc:docMk/>
            <pc:sldMk cId="1854710654" sldId="262"/>
            <ac:spMk id="25" creationId="{C43F12BD-2CB6-4692-969A-57AA217476E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Saludar y presentar SIG-GLORIA como una aplicación web de gestión empresarial.</a:t>
            </a:r>
          </a:p>
          <a:p>
            <a:r>
              <a:t>Explicar que el sistema integra procesos internos y el portal del cliente en una sola interfaz.</a:t>
            </a:r>
          </a:p>
          <a:p>
            <a:r>
              <a:t>Indicar que se mostrará el flujo por roles: administrador y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 que seguirás una ruta clara: primero el problema, luego la solución y finalmente los flujos.</a:t>
            </a:r>
          </a:p>
          <a:p>
            <a:r>
              <a:t>No leas toda la agenda; úsala para orientar al profesor.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Aquí conviene explicar el problema en lenguaje simple: antes cada área tenía datos separados.</a:t>
            </a:r>
          </a:p>
          <a:p>
            <a:r>
              <a:t>Luego conecta la solución: SIG-GLORIA organiza esos procesos en un sistema navegable y demostrable.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 que el alcance es funcional: no es solo diseño, también guarda registros y permite interacción.</a:t>
            </a:r>
          </a:p>
          <a:p>
            <a:r>
              <a:t>Menciona que los roles separan la experiencia del administrador y del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Cuenta la arquitectura de forma simple: usuario entra, el sistema identifica el rol, muestra módulos y guarda datos.</a:t>
            </a:r>
          </a:p>
          <a:p>
            <a:r>
              <a:t>No hace falta explicar código; enfócate en funcionamiento.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esta parte muestra el menú lateral con el usuario administrador.</a:t>
            </a:r>
          </a:p>
          <a:p>
            <a:r>
              <a:t>Recomienda abrir Productores, Inventario o Ventas porque tienen acciones visibles: registrar, ver, editar o comprobante.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Aquí cambia de usuario y entra como cliente.</a:t>
            </a:r>
          </a:p>
          <a:p>
            <a:r>
              <a:t>Explica que esta vista evita mostrar partes internas del sistema y se enfoca en lo que necesita un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es uno de los puntos fuertes para mostrar: ya no es un pedido vacío.</a:t>
            </a:r>
          </a:p>
          <a:p>
            <a:r>
              <a:t>Selecciona un producto, cambia la cantidad y explica que el total se actualiza automáticamente.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slide te sirve si el profesor pregunta qué se corrigió.</a:t>
            </a:r>
          </a:p>
          <a:p>
            <a:r>
              <a:t>Menciona que se revisó tanto la interfaz como la funcionalidad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 esta diapositiva como checklist mental durante la presentación.</a:t>
            </a:r>
          </a:p>
          <a:p>
            <a:r>
              <a:t>Cierra diciendo que el sistema no solo muestra pantallas: permite registrar, consultar y mantener información por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350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545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28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348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566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300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527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201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85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763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4337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228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6670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372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9697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075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6047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32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ver-title">
            <a:extLst>
              <a:ext uri="{FF2B5EF4-FFF2-40B4-BE49-F238E27FC236}">
                <a16:creationId xmlns:a16="http://schemas.microsoft.com/office/drawing/2014/main" id="{4EC4CC3E-078A-4EBD-83C1-8F31D02B89DA}"/>
              </a:ext>
            </a:extLst>
          </p:cNvPr>
          <p:cNvSpPr>
            <a:spLocks noGrp="1"/>
          </p:cNvSpPr>
          <p:nvPr/>
        </p:nvSpPr>
        <p:spPr>
          <a:xfrm>
            <a:off x="400050" y="542925"/>
            <a:ext cx="514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500" b="1">
                <a:solidFill>
                  <a:srgbClr val="D61023"/>
                </a:solidFill>
              </a:defRPr>
            </a:pPr>
            <a:r>
              <a:rPr sz="4500" b="1" dirty="0">
                <a:solidFill>
                  <a:srgbClr val="D61023"/>
                </a:solidFill>
              </a:rPr>
              <a:t>SIG-GLORIA</a:t>
            </a:r>
          </a:p>
        </p:txBody>
      </p:sp>
      <p:sp>
        <p:nvSpPr>
          <p:cNvPr id="2" name="cover-sub">
            <a:extLst>
              <a:ext uri="{FF2B5EF4-FFF2-40B4-BE49-F238E27FC236}">
                <a16:creationId xmlns:a16="http://schemas.microsoft.com/office/drawing/2014/main" id="{09BB6401-D11D-4188-9D80-50AF798CA3BA}"/>
              </a:ext>
            </a:extLst>
          </p:cNvPr>
          <p:cNvSpPr>
            <a:spLocks noGrp="1"/>
          </p:cNvSpPr>
          <p:nvPr/>
        </p:nvSpPr>
        <p:spPr>
          <a:xfrm>
            <a:off x="400050" y="2047875"/>
            <a:ext cx="6572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 dirty="0">
                <a:solidFill>
                  <a:srgbClr val="111827"/>
                </a:solidFill>
              </a:rPr>
              <a:t>Sistema de </a:t>
            </a:r>
            <a:r>
              <a:rPr sz="2550" b="1" dirty="0" err="1">
                <a:solidFill>
                  <a:srgbClr val="111827"/>
                </a:solidFill>
              </a:rPr>
              <a:t>Gestión</a:t>
            </a:r>
            <a:r>
              <a:rPr sz="2550" b="1" dirty="0">
                <a:solidFill>
                  <a:srgbClr val="111827"/>
                </a:solidFill>
              </a:rPr>
              <a:t> Empresarial Integral</a:t>
            </a:r>
          </a:p>
        </p:txBody>
      </p:sp>
      <p:sp>
        <p:nvSpPr>
          <p:cNvPr id="3" name="cover-desc">
            <a:extLst>
              <a:ext uri="{FF2B5EF4-FFF2-40B4-BE49-F238E27FC236}">
                <a16:creationId xmlns:a16="http://schemas.microsoft.com/office/drawing/2014/main" id="{CC7BBB67-A80C-4089-8D5F-31C96CFA3C5D}"/>
              </a:ext>
            </a:extLst>
          </p:cNvPr>
          <p:cNvSpPr>
            <a:spLocks noGrp="1"/>
          </p:cNvSpPr>
          <p:nvPr/>
        </p:nvSpPr>
        <p:spPr>
          <a:xfrm>
            <a:off x="400050" y="3355848"/>
            <a:ext cx="6286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596273"/>
                </a:solidFill>
              </a:defRPr>
            </a:pPr>
            <a:r>
              <a:rPr sz="1725" b="0" dirty="0" err="1">
                <a:solidFill>
                  <a:srgbClr val="596273"/>
                </a:solidFill>
              </a:rPr>
              <a:t>Aplicación</a:t>
            </a:r>
            <a:r>
              <a:rPr sz="1725" b="0" dirty="0">
                <a:solidFill>
                  <a:srgbClr val="596273"/>
                </a:solidFill>
              </a:rPr>
              <a:t> web para </a:t>
            </a:r>
            <a:r>
              <a:rPr sz="1725" b="0" dirty="0" err="1">
                <a:solidFill>
                  <a:srgbClr val="596273"/>
                </a:solidFill>
              </a:rPr>
              <a:t>gestionar</a:t>
            </a:r>
            <a:r>
              <a:rPr sz="1725" b="0" dirty="0">
                <a:solidFill>
                  <a:srgbClr val="596273"/>
                </a:solidFill>
              </a:rPr>
              <a:t> </a:t>
            </a:r>
            <a:r>
              <a:rPr sz="1725" b="0" dirty="0" err="1">
                <a:solidFill>
                  <a:srgbClr val="596273"/>
                </a:solidFill>
              </a:rPr>
              <a:t>producción</a:t>
            </a:r>
            <a:r>
              <a:rPr sz="1725" b="0" dirty="0">
                <a:solidFill>
                  <a:srgbClr val="596273"/>
                </a:solidFill>
              </a:rPr>
              <a:t>, </a:t>
            </a:r>
            <a:r>
              <a:rPr sz="1725" b="0" dirty="0" err="1">
                <a:solidFill>
                  <a:srgbClr val="596273"/>
                </a:solidFill>
              </a:rPr>
              <a:t>inventario</a:t>
            </a:r>
            <a:r>
              <a:rPr sz="1725" b="0" dirty="0">
                <a:solidFill>
                  <a:srgbClr val="596273"/>
                </a:solidFill>
              </a:rPr>
              <a:t>, </a:t>
            </a:r>
            <a:r>
              <a:rPr sz="1725" b="0" dirty="0" err="1">
                <a:solidFill>
                  <a:srgbClr val="596273"/>
                </a:solidFill>
              </a:rPr>
              <a:t>ventas</a:t>
            </a:r>
            <a:r>
              <a:rPr sz="1725" b="0" dirty="0">
                <a:solidFill>
                  <a:srgbClr val="596273"/>
                </a:solidFill>
              </a:rPr>
              <a:t>, </a:t>
            </a:r>
            <a:r>
              <a:rPr sz="1725" b="0" dirty="0" err="1">
                <a:solidFill>
                  <a:srgbClr val="596273"/>
                </a:solidFill>
              </a:rPr>
              <a:t>soporte</a:t>
            </a:r>
            <a:r>
              <a:rPr sz="1725" b="0" dirty="0">
                <a:solidFill>
                  <a:srgbClr val="596273"/>
                </a:solidFill>
              </a:rPr>
              <a:t> y portal del </a:t>
            </a:r>
            <a:r>
              <a:rPr sz="1725" b="0" dirty="0" err="1">
                <a:solidFill>
                  <a:srgbClr val="596273"/>
                </a:solidFill>
              </a:rPr>
              <a:t>cliente</a:t>
            </a:r>
            <a:r>
              <a:rPr sz="1725" b="0" dirty="0">
                <a:solidFill>
                  <a:srgbClr val="596273"/>
                </a:solidFill>
              </a:rPr>
              <a:t>.</a:t>
            </a:r>
          </a:p>
        </p:txBody>
      </p:sp>
      <p:sp>
        <p:nvSpPr>
          <p:cNvPr id="4" name="cover-panel">
            <a:extLst>
              <a:ext uri="{FF2B5EF4-FFF2-40B4-BE49-F238E27FC236}">
                <a16:creationId xmlns:a16="http://schemas.microsoft.com/office/drawing/2014/main" id="{845A5FC3-2D58-40EC-A6B3-C4BEC6A42E75}"/>
              </a:ext>
            </a:extLst>
          </p:cNvPr>
          <p:cNvSpPr>
            <a:spLocks noGrp="1"/>
          </p:cNvSpPr>
          <p:nvPr/>
        </p:nvSpPr>
        <p:spPr>
          <a:xfrm>
            <a:off x="7810500" y="0"/>
            <a:ext cx="4381500" cy="6858000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logo-frame">
            <a:extLst>
              <a:ext uri="{FF2B5EF4-FFF2-40B4-BE49-F238E27FC236}">
                <a16:creationId xmlns:a16="http://schemas.microsoft.com/office/drawing/2014/main" id="{F0D8679D-7CA4-42B6-8864-7F8B5E581113}"/>
              </a:ext>
            </a:extLst>
          </p:cNvPr>
          <p:cNvSpPr>
            <a:spLocks noGrp="1"/>
          </p:cNvSpPr>
          <p:nvPr/>
        </p:nvSpPr>
        <p:spPr>
          <a:xfrm>
            <a:off x="8362950" y="914400"/>
            <a:ext cx="2705100" cy="27051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gloria-mark">
            <a:extLst>
              <a:ext uri="{FF2B5EF4-FFF2-40B4-BE49-F238E27FC236}">
                <a16:creationId xmlns:a16="http://schemas.microsoft.com/office/drawing/2014/main" id="{17029B93-2035-4DC7-B1A3-BE1DF371DB49}"/>
              </a:ext>
            </a:extLst>
          </p:cNvPr>
          <p:cNvSpPr>
            <a:spLocks noGrp="1"/>
          </p:cNvSpPr>
          <p:nvPr/>
        </p:nvSpPr>
        <p:spPr>
          <a:xfrm>
            <a:off x="8591550" y="1714500"/>
            <a:ext cx="2247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600" b="1">
                <a:solidFill>
                  <a:srgbClr val="10194D"/>
                </a:solidFill>
              </a:defRPr>
            </a:pPr>
            <a:r>
              <a:rPr sz="3600" b="1">
                <a:solidFill>
                  <a:srgbClr val="10194D"/>
                </a:solidFill>
              </a:rPr>
              <a:t>GLORIA</a:t>
            </a:r>
          </a:p>
        </p:txBody>
      </p:sp>
      <p:sp>
        <p:nvSpPr>
          <p:cNvPr id="7" name="brand-dot">
            <a:extLst>
              <a:ext uri="{FF2B5EF4-FFF2-40B4-BE49-F238E27FC236}">
                <a16:creationId xmlns:a16="http://schemas.microsoft.com/office/drawing/2014/main" id="{B7D9F33B-D835-48B4-98B3-541840DAA69B}"/>
              </a:ext>
            </a:extLst>
          </p:cNvPr>
          <p:cNvSpPr>
            <a:spLocks noGrp="1"/>
          </p:cNvSpPr>
          <p:nvPr/>
        </p:nvSpPr>
        <p:spPr>
          <a:xfrm>
            <a:off x="9391650" y="2571750"/>
            <a:ext cx="647700" cy="647700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cover-keywords">
            <a:extLst>
              <a:ext uri="{FF2B5EF4-FFF2-40B4-BE49-F238E27FC236}">
                <a16:creationId xmlns:a16="http://schemas.microsoft.com/office/drawing/2014/main" id="{6C224A34-0BB1-48D2-B847-DFB3CB8FC366}"/>
              </a:ext>
            </a:extLst>
          </p:cNvPr>
          <p:cNvSpPr>
            <a:spLocks noGrp="1"/>
          </p:cNvSpPr>
          <p:nvPr/>
        </p:nvSpPr>
        <p:spPr>
          <a:xfrm>
            <a:off x="8362950" y="4095750"/>
            <a:ext cx="27051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 dirty="0">
                <a:solidFill>
                  <a:srgbClr val="111827"/>
                </a:solidFill>
              </a:rPr>
              <a:t>Leche</a:t>
            </a:r>
          </a:p>
          <a:p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 dirty="0" err="1">
                <a:solidFill>
                  <a:srgbClr val="111827"/>
                </a:solidFill>
              </a:rPr>
              <a:t>Producción</a:t>
            </a:r>
            <a:endParaRPr sz="2100" b="1" dirty="0">
              <a:solidFill>
                <a:srgbClr val="111827"/>
              </a:solidFill>
            </a:endParaRPr>
          </a:p>
          <a:p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 dirty="0" err="1">
                <a:solidFill>
                  <a:srgbClr val="111827"/>
                </a:solidFill>
              </a:rPr>
              <a:t>Pedidos</a:t>
            </a:r>
            <a:endParaRPr sz="2100" b="1" dirty="0">
              <a:solidFill>
                <a:srgbClr val="111827"/>
              </a:solidFill>
            </a:endParaRPr>
          </a:p>
          <a:p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 dirty="0" err="1">
                <a:solidFill>
                  <a:srgbClr val="111827"/>
                </a:solidFill>
              </a:rPr>
              <a:t>Soporte</a:t>
            </a:r>
            <a:endParaRPr sz="2100" b="1" dirty="0">
              <a:solidFill>
                <a:srgbClr val="111827"/>
              </a:solidFill>
            </a:endParaRPr>
          </a:p>
        </p:txBody>
      </p:sp>
      <p:sp>
        <p:nvSpPr>
          <p:cNvPr id="9" name="cover-foot">
            <a:extLst>
              <a:ext uri="{FF2B5EF4-FFF2-40B4-BE49-F238E27FC236}">
                <a16:creationId xmlns:a16="http://schemas.microsoft.com/office/drawing/2014/main" id="{9D02D97E-611A-4B2A-8793-4BF23BE08ACA}"/>
              </a:ext>
            </a:extLst>
          </p:cNvPr>
          <p:cNvSpPr>
            <a:spLocks noGrp="1"/>
          </p:cNvSpPr>
          <p:nvPr/>
        </p:nvSpPr>
        <p:spPr>
          <a:xfrm>
            <a:off x="400050" y="59245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</a:defRPr>
            </a:pPr>
            <a:r>
              <a:rPr sz="1350" b="0">
                <a:solidFill>
                  <a:srgbClr val="596273"/>
                </a:solidFill>
              </a:rPr>
              <a:t>Presentación del sistema</a:t>
            </a:r>
          </a:p>
        </p:txBody>
      </p:sp>
      <p:sp>
        <p:nvSpPr>
          <p:cNvPr id="10" name="footer-brand">
            <a:extLst>
              <a:ext uri="{FF2B5EF4-FFF2-40B4-BE49-F238E27FC236}">
                <a16:creationId xmlns:a16="http://schemas.microsoft.com/office/drawing/2014/main" id="{9D5D658D-EBE6-4DC2-9932-2A9042994CFB}"/>
              </a:ext>
            </a:extLst>
          </p:cNvPr>
          <p:cNvSpPr>
            <a:spLocks noGrp="1"/>
          </p:cNvSpPr>
          <p:nvPr/>
        </p:nvSpPr>
        <p:spPr>
          <a:xfrm>
            <a:off x="400050" y="63341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SIG-GLORIA</a:t>
            </a:r>
          </a:p>
        </p:txBody>
      </p:sp>
      <p:sp>
        <p:nvSpPr>
          <p:cNvPr id="11" name="footer-num">
            <a:extLst>
              <a:ext uri="{FF2B5EF4-FFF2-40B4-BE49-F238E27FC236}">
                <a16:creationId xmlns:a16="http://schemas.microsoft.com/office/drawing/2014/main" id="{B073F786-0618-49D3-AE99-47462849E77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03556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-title">
            <a:extLst>
              <a:ext uri="{FF2B5EF4-FFF2-40B4-BE49-F238E27FC236}">
                <a16:creationId xmlns:a16="http://schemas.microsoft.com/office/drawing/2014/main" id="{F842B5F8-BE87-4232-86B5-80FF64681F51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 dirty="0">
                <a:solidFill>
                  <a:srgbClr val="111827"/>
                </a:solidFill>
              </a:rPr>
              <a:t>Ruta de la </a:t>
            </a:r>
            <a:r>
              <a:rPr sz="2850" b="1" dirty="0" err="1">
                <a:solidFill>
                  <a:srgbClr val="111827"/>
                </a:solidFill>
              </a:rPr>
              <a:t>exposición</a:t>
            </a:r>
            <a:endParaRPr sz="2850" b="1" dirty="0">
              <a:solidFill>
                <a:srgbClr val="111827"/>
              </a:solidFill>
            </a:endParaRP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FE97323-5574-458C-A488-28946D02A682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96273"/>
                </a:solidFill>
              </a:defRPr>
            </a:pPr>
            <a:r>
              <a:rPr sz="1500" b="0" dirty="0">
                <a:solidFill>
                  <a:srgbClr val="596273"/>
                </a:solidFill>
              </a:rPr>
              <a:t>Orden </a:t>
            </a:r>
            <a:r>
              <a:rPr sz="1500" b="0" dirty="0" err="1">
                <a:solidFill>
                  <a:srgbClr val="596273"/>
                </a:solidFill>
              </a:rPr>
              <a:t>recomendado</a:t>
            </a:r>
            <a:r>
              <a:rPr sz="1500" b="0" dirty="0">
                <a:solidFill>
                  <a:srgbClr val="596273"/>
                </a:solidFill>
              </a:rPr>
              <a:t> para </a:t>
            </a:r>
            <a:r>
              <a:rPr sz="1500" b="0" dirty="0" err="1">
                <a:solidFill>
                  <a:srgbClr val="596273"/>
                </a:solidFill>
              </a:rPr>
              <a:t>explicar</a:t>
            </a:r>
            <a:r>
              <a:rPr sz="1500" b="0" dirty="0">
                <a:solidFill>
                  <a:srgbClr val="596273"/>
                </a:solidFill>
              </a:rPr>
              <a:t> </a:t>
            </a:r>
            <a:r>
              <a:rPr sz="1500" b="0" dirty="0" err="1">
                <a:solidFill>
                  <a:srgbClr val="596273"/>
                </a:solidFill>
              </a:rPr>
              <a:t>el</a:t>
            </a:r>
            <a:r>
              <a:rPr sz="1500" b="0" dirty="0">
                <a:solidFill>
                  <a:srgbClr val="596273"/>
                </a:solidFill>
              </a:rPr>
              <a:t> </a:t>
            </a:r>
            <a:r>
              <a:rPr sz="1500" b="0" dirty="0" err="1">
                <a:solidFill>
                  <a:srgbClr val="596273"/>
                </a:solidFill>
              </a:rPr>
              <a:t>sistema</a:t>
            </a:r>
            <a:r>
              <a:rPr sz="1500" b="0" dirty="0">
                <a:solidFill>
                  <a:srgbClr val="596273"/>
                </a:solidFill>
              </a:rPr>
              <a:t> sin </a:t>
            </a:r>
            <a:r>
              <a:rPr sz="1500" b="0" dirty="0" err="1">
                <a:solidFill>
                  <a:srgbClr val="596273"/>
                </a:solidFill>
              </a:rPr>
              <a:t>saltos</a:t>
            </a:r>
            <a:r>
              <a:rPr sz="1500" b="0" dirty="0">
                <a:solidFill>
                  <a:srgbClr val="596273"/>
                </a:solidFill>
              </a:rPr>
              <a:t>.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F501671E-7662-4B1B-B27D-4599A709E690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876300" cy="47625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footer-brand">
            <a:extLst>
              <a:ext uri="{FF2B5EF4-FFF2-40B4-BE49-F238E27FC236}">
                <a16:creationId xmlns:a16="http://schemas.microsoft.com/office/drawing/2014/main" id="{120F094B-1C9A-4F9A-90DF-25F88628D065}"/>
              </a:ext>
            </a:extLst>
          </p:cNvPr>
          <p:cNvSpPr>
            <a:spLocks noGrp="1"/>
          </p:cNvSpPr>
          <p:nvPr/>
        </p:nvSpPr>
        <p:spPr>
          <a:xfrm>
            <a:off x="400050" y="63341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SIG-GLORIA</a:t>
            </a:r>
          </a:p>
        </p:txBody>
      </p:sp>
      <p:sp>
        <p:nvSpPr>
          <p:cNvPr id="5" name="footer-num">
            <a:extLst>
              <a:ext uri="{FF2B5EF4-FFF2-40B4-BE49-F238E27FC236}">
                <a16:creationId xmlns:a16="http://schemas.microsoft.com/office/drawing/2014/main" id="{E29DB7B7-4324-4F48-B527-16DF6D60AA7E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02</a:t>
            </a:r>
          </a:p>
        </p:txBody>
      </p:sp>
      <p:sp>
        <p:nvSpPr>
          <p:cNvPr id="6" name="agenda-num">
            <a:extLst>
              <a:ext uri="{FF2B5EF4-FFF2-40B4-BE49-F238E27FC236}">
                <a16:creationId xmlns:a16="http://schemas.microsoft.com/office/drawing/2014/main" id="{0B505FBB-6ACB-402F-9534-FC666423EC3B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D61023"/>
                </a:solidFill>
              </a:defRPr>
            </a:pPr>
            <a:r>
              <a:rPr sz="1650" b="1">
                <a:solidFill>
                  <a:srgbClr val="D61023"/>
                </a:solidFill>
              </a:rPr>
              <a:t>01</a:t>
            </a:r>
          </a:p>
        </p:txBody>
      </p:sp>
      <p:sp>
        <p:nvSpPr>
          <p:cNvPr id="7" name="agenda-item">
            <a:extLst>
              <a:ext uri="{FF2B5EF4-FFF2-40B4-BE49-F238E27FC236}">
                <a16:creationId xmlns:a16="http://schemas.microsoft.com/office/drawing/2014/main" id="{885ED36F-537E-4CDF-BBA8-7D3FE05660A7}"/>
              </a:ext>
            </a:extLst>
          </p:cNvPr>
          <p:cNvSpPr>
            <a:spLocks noGrp="1"/>
          </p:cNvSpPr>
          <p:nvPr/>
        </p:nvSpPr>
        <p:spPr>
          <a:xfrm>
            <a:off x="1352550" y="165735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Contexto y problema</a:t>
            </a:r>
          </a:p>
        </p:txBody>
      </p:sp>
      <p:sp>
        <p:nvSpPr>
          <p:cNvPr id="8" name="agenda-rule">
            <a:extLst>
              <a:ext uri="{FF2B5EF4-FFF2-40B4-BE49-F238E27FC236}">
                <a16:creationId xmlns:a16="http://schemas.microsoft.com/office/drawing/2014/main" id="{7E1CBD5A-C30F-40C0-8993-A71BEF552C65}"/>
              </a:ext>
            </a:extLst>
          </p:cNvPr>
          <p:cNvSpPr>
            <a:spLocks noGrp="1"/>
          </p:cNvSpPr>
          <p:nvPr/>
        </p:nvSpPr>
        <p:spPr>
          <a:xfrm>
            <a:off x="590550" y="2038350"/>
            <a:ext cx="742950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agenda-num">
            <a:extLst>
              <a:ext uri="{FF2B5EF4-FFF2-40B4-BE49-F238E27FC236}">
                <a16:creationId xmlns:a16="http://schemas.microsoft.com/office/drawing/2014/main" id="{5E80D58D-3AB4-431C-BB03-C674BFFD9764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D61023"/>
                </a:solidFill>
              </a:defRPr>
            </a:pPr>
            <a:r>
              <a:rPr sz="1650" b="1">
                <a:solidFill>
                  <a:srgbClr val="D61023"/>
                </a:solidFill>
              </a:rPr>
              <a:t>02</a:t>
            </a:r>
          </a:p>
        </p:txBody>
      </p:sp>
      <p:sp>
        <p:nvSpPr>
          <p:cNvPr id="10" name="agenda-item">
            <a:extLst>
              <a:ext uri="{FF2B5EF4-FFF2-40B4-BE49-F238E27FC236}">
                <a16:creationId xmlns:a16="http://schemas.microsoft.com/office/drawing/2014/main" id="{32CD2575-BCEF-4600-A6F8-AB2CA00174CD}"/>
              </a:ext>
            </a:extLst>
          </p:cNvPr>
          <p:cNvSpPr>
            <a:spLocks noGrp="1"/>
          </p:cNvSpPr>
          <p:nvPr/>
        </p:nvSpPr>
        <p:spPr>
          <a:xfrm>
            <a:off x="1352550" y="215265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Objetivo del sistema</a:t>
            </a:r>
          </a:p>
        </p:txBody>
      </p:sp>
      <p:sp>
        <p:nvSpPr>
          <p:cNvPr id="11" name="agenda-rule">
            <a:extLst>
              <a:ext uri="{FF2B5EF4-FFF2-40B4-BE49-F238E27FC236}">
                <a16:creationId xmlns:a16="http://schemas.microsoft.com/office/drawing/2014/main" id="{7C5982F2-356C-4C28-A36C-DE86FF1791C3}"/>
              </a:ext>
            </a:extLst>
          </p:cNvPr>
          <p:cNvSpPr>
            <a:spLocks noGrp="1"/>
          </p:cNvSpPr>
          <p:nvPr/>
        </p:nvSpPr>
        <p:spPr>
          <a:xfrm>
            <a:off x="590550" y="2533650"/>
            <a:ext cx="742950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agenda-num">
            <a:extLst>
              <a:ext uri="{FF2B5EF4-FFF2-40B4-BE49-F238E27FC236}">
                <a16:creationId xmlns:a16="http://schemas.microsoft.com/office/drawing/2014/main" id="{48F404DD-9BCD-4DF3-B4A8-1B09DB7812BC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D61023"/>
                </a:solidFill>
              </a:defRPr>
            </a:pPr>
            <a:r>
              <a:rPr sz="1650" b="1">
                <a:solidFill>
                  <a:srgbClr val="D61023"/>
                </a:solidFill>
              </a:rPr>
              <a:t>03</a:t>
            </a:r>
          </a:p>
        </p:txBody>
      </p:sp>
      <p:sp>
        <p:nvSpPr>
          <p:cNvPr id="13" name="agenda-item">
            <a:extLst>
              <a:ext uri="{FF2B5EF4-FFF2-40B4-BE49-F238E27FC236}">
                <a16:creationId xmlns:a16="http://schemas.microsoft.com/office/drawing/2014/main" id="{EEC834C3-F780-4307-86CB-624ED2324E80}"/>
              </a:ext>
            </a:extLst>
          </p:cNvPr>
          <p:cNvSpPr>
            <a:spLocks noGrp="1"/>
          </p:cNvSpPr>
          <p:nvPr/>
        </p:nvSpPr>
        <p:spPr>
          <a:xfrm>
            <a:off x="1352550" y="264795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Arquitectura funcional</a:t>
            </a:r>
          </a:p>
        </p:txBody>
      </p:sp>
      <p:sp>
        <p:nvSpPr>
          <p:cNvPr id="14" name="agenda-rule">
            <a:extLst>
              <a:ext uri="{FF2B5EF4-FFF2-40B4-BE49-F238E27FC236}">
                <a16:creationId xmlns:a16="http://schemas.microsoft.com/office/drawing/2014/main" id="{CB7BDA2D-B606-4BA8-B90E-4E58DD9BF2E8}"/>
              </a:ext>
            </a:extLst>
          </p:cNvPr>
          <p:cNvSpPr>
            <a:spLocks noGrp="1"/>
          </p:cNvSpPr>
          <p:nvPr/>
        </p:nvSpPr>
        <p:spPr>
          <a:xfrm>
            <a:off x="590550" y="3028950"/>
            <a:ext cx="742950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agenda-num">
            <a:extLst>
              <a:ext uri="{FF2B5EF4-FFF2-40B4-BE49-F238E27FC236}">
                <a16:creationId xmlns:a16="http://schemas.microsoft.com/office/drawing/2014/main" id="{1AD0F39A-7165-42FA-97E6-169ADAECE4A6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D61023"/>
                </a:solidFill>
              </a:defRPr>
            </a:pPr>
            <a:r>
              <a:rPr sz="1650" b="1">
                <a:solidFill>
                  <a:srgbClr val="D61023"/>
                </a:solidFill>
              </a:rPr>
              <a:t>04</a:t>
            </a:r>
          </a:p>
        </p:txBody>
      </p:sp>
      <p:sp>
        <p:nvSpPr>
          <p:cNvPr id="16" name="agenda-item">
            <a:extLst>
              <a:ext uri="{FF2B5EF4-FFF2-40B4-BE49-F238E27FC236}">
                <a16:creationId xmlns:a16="http://schemas.microsoft.com/office/drawing/2014/main" id="{C5493EE2-D9F0-4200-B40F-E2D8C0ECE8B4}"/>
              </a:ext>
            </a:extLst>
          </p:cNvPr>
          <p:cNvSpPr>
            <a:spLocks noGrp="1"/>
          </p:cNvSpPr>
          <p:nvPr/>
        </p:nvSpPr>
        <p:spPr>
          <a:xfrm>
            <a:off x="1352550" y="314325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Rol administrador</a:t>
            </a:r>
          </a:p>
        </p:txBody>
      </p:sp>
      <p:sp>
        <p:nvSpPr>
          <p:cNvPr id="17" name="agenda-rule">
            <a:extLst>
              <a:ext uri="{FF2B5EF4-FFF2-40B4-BE49-F238E27FC236}">
                <a16:creationId xmlns:a16="http://schemas.microsoft.com/office/drawing/2014/main" id="{421DE1F0-1920-41CB-BEBE-8C0C4A61DDC1}"/>
              </a:ext>
            </a:extLst>
          </p:cNvPr>
          <p:cNvSpPr>
            <a:spLocks noGrp="1"/>
          </p:cNvSpPr>
          <p:nvPr/>
        </p:nvSpPr>
        <p:spPr>
          <a:xfrm>
            <a:off x="590550" y="3524250"/>
            <a:ext cx="742950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agenda-num">
            <a:extLst>
              <a:ext uri="{FF2B5EF4-FFF2-40B4-BE49-F238E27FC236}">
                <a16:creationId xmlns:a16="http://schemas.microsoft.com/office/drawing/2014/main" id="{27F91132-EBC5-487C-A292-38115718902C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D61023"/>
                </a:solidFill>
              </a:defRPr>
            </a:pPr>
            <a:r>
              <a:rPr sz="1650" b="1">
                <a:solidFill>
                  <a:srgbClr val="D61023"/>
                </a:solidFill>
              </a:rPr>
              <a:t>05</a:t>
            </a:r>
          </a:p>
        </p:txBody>
      </p:sp>
      <p:sp>
        <p:nvSpPr>
          <p:cNvPr id="19" name="agenda-item">
            <a:extLst>
              <a:ext uri="{FF2B5EF4-FFF2-40B4-BE49-F238E27FC236}">
                <a16:creationId xmlns:a16="http://schemas.microsoft.com/office/drawing/2014/main" id="{7AF7E160-2FED-4B0B-B559-4CF76BD2112A}"/>
              </a:ext>
            </a:extLst>
          </p:cNvPr>
          <p:cNvSpPr>
            <a:spLocks noGrp="1"/>
          </p:cNvSpPr>
          <p:nvPr/>
        </p:nvSpPr>
        <p:spPr>
          <a:xfrm>
            <a:off x="1352550" y="363855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Rol cliente</a:t>
            </a:r>
          </a:p>
        </p:txBody>
      </p:sp>
      <p:sp>
        <p:nvSpPr>
          <p:cNvPr id="20" name="agenda-rule">
            <a:extLst>
              <a:ext uri="{FF2B5EF4-FFF2-40B4-BE49-F238E27FC236}">
                <a16:creationId xmlns:a16="http://schemas.microsoft.com/office/drawing/2014/main" id="{15641B13-7AAC-4D23-91CE-00A3737E6747}"/>
              </a:ext>
            </a:extLst>
          </p:cNvPr>
          <p:cNvSpPr>
            <a:spLocks noGrp="1"/>
          </p:cNvSpPr>
          <p:nvPr/>
        </p:nvSpPr>
        <p:spPr>
          <a:xfrm>
            <a:off x="590550" y="4019550"/>
            <a:ext cx="742950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agenda-num">
            <a:extLst>
              <a:ext uri="{FF2B5EF4-FFF2-40B4-BE49-F238E27FC236}">
                <a16:creationId xmlns:a16="http://schemas.microsoft.com/office/drawing/2014/main" id="{C31B07B6-DC3C-4EAF-927E-EA12EB0884E3}"/>
              </a:ext>
            </a:extLst>
          </p:cNvPr>
          <p:cNvSpPr>
            <a:spLocks noGrp="1"/>
          </p:cNvSpPr>
          <p:nvPr/>
        </p:nvSpPr>
        <p:spPr>
          <a:xfrm>
            <a:off x="609600" y="41338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D61023"/>
                </a:solidFill>
              </a:defRPr>
            </a:pPr>
            <a:r>
              <a:rPr sz="1650" b="1">
                <a:solidFill>
                  <a:srgbClr val="D61023"/>
                </a:solidFill>
              </a:rPr>
              <a:t>06</a:t>
            </a:r>
          </a:p>
        </p:txBody>
      </p:sp>
      <p:sp>
        <p:nvSpPr>
          <p:cNvPr id="22" name="agenda-item">
            <a:extLst>
              <a:ext uri="{FF2B5EF4-FFF2-40B4-BE49-F238E27FC236}">
                <a16:creationId xmlns:a16="http://schemas.microsoft.com/office/drawing/2014/main" id="{B073120C-0BA8-427C-ACC9-7DEBC8E58A1F}"/>
              </a:ext>
            </a:extLst>
          </p:cNvPr>
          <p:cNvSpPr>
            <a:spLocks noGrp="1"/>
          </p:cNvSpPr>
          <p:nvPr/>
        </p:nvSpPr>
        <p:spPr>
          <a:xfrm>
            <a:off x="1352550" y="413385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Pedidos con productos y precios</a:t>
            </a:r>
          </a:p>
        </p:txBody>
      </p:sp>
      <p:sp>
        <p:nvSpPr>
          <p:cNvPr id="23" name="agenda-rule">
            <a:extLst>
              <a:ext uri="{FF2B5EF4-FFF2-40B4-BE49-F238E27FC236}">
                <a16:creationId xmlns:a16="http://schemas.microsoft.com/office/drawing/2014/main" id="{80E6A6AA-C51C-4A82-B7C9-EE257E55D927}"/>
              </a:ext>
            </a:extLst>
          </p:cNvPr>
          <p:cNvSpPr>
            <a:spLocks noGrp="1"/>
          </p:cNvSpPr>
          <p:nvPr/>
        </p:nvSpPr>
        <p:spPr>
          <a:xfrm>
            <a:off x="590550" y="4514850"/>
            <a:ext cx="742950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agenda-num">
            <a:extLst>
              <a:ext uri="{FF2B5EF4-FFF2-40B4-BE49-F238E27FC236}">
                <a16:creationId xmlns:a16="http://schemas.microsoft.com/office/drawing/2014/main" id="{87213A56-1AE9-4402-A273-CF7866427469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D61023"/>
                </a:solidFill>
              </a:defRPr>
            </a:pPr>
            <a:r>
              <a:rPr sz="1650" b="1">
                <a:solidFill>
                  <a:srgbClr val="D61023"/>
                </a:solidFill>
              </a:rPr>
              <a:t>07</a:t>
            </a:r>
          </a:p>
        </p:txBody>
      </p:sp>
      <p:sp>
        <p:nvSpPr>
          <p:cNvPr id="25" name="agenda-item">
            <a:extLst>
              <a:ext uri="{FF2B5EF4-FFF2-40B4-BE49-F238E27FC236}">
                <a16:creationId xmlns:a16="http://schemas.microsoft.com/office/drawing/2014/main" id="{6631B40C-0E68-44C6-A5BA-9B98EE040264}"/>
              </a:ext>
            </a:extLst>
          </p:cNvPr>
          <p:cNvSpPr>
            <a:spLocks noGrp="1"/>
          </p:cNvSpPr>
          <p:nvPr/>
        </p:nvSpPr>
        <p:spPr>
          <a:xfrm>
            <a:off x="1352550" y="462915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Persistencia y validación</a:t>
            </a:r>
          </a:p>
        </p:txBody>
      </p:sp>
      <p:sp>
        <p:nvSpPr>
          <p:cNvPr id="26" name="agenda-rule">
            <a:extLst>
              <a:ext uri="{FF2B5EF4-FFF2-40B4-BE49-F238E27FC236}">
                <a16:creationId xmlns:a16="http://schemas.microsoft.com/office/drawing/2014/main" id="{76132587-0824-47C0-919D-61CC5960808F}"/>
              </a:ext>
            </a:extLst>
          </p:cNvPr>
          <p:cNvSpPr>
            <a:spLocks noGrp="1"/>
          </p:cNvSpPr>
          <p:nvPr/>
        </p:nvSpPr>
        <p:spPr>
          <a:xfrm>
            <a:off x="590550" y="5010150"/>
            <a:ext cx="742950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agenda-num">
            <a:extLst>
              <a:ext uri="{FF2B5EF4-FFF2-40B4-BE49-F238E27FC236}">
                <a16:creationId xmlns:a16="http://schemas.microsoft.com/office/drawing/2014/main" id="{6AE9C5BC-1D44-4F9D-88C7-078E9E58E883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D61023"/>
                </a:solidFill>
              </a:defRPr>
            </a:pPr>
            <a:r>
              <a:rPr sz="1650" b="1">
                <a:solidFill>
                  <a:srgbClr val="D61023"/>
                </a:solidFill>
              </a:rPr>
              <a:t>08</a:t>
            </a:r>
          </a:p>
        </p:txBody>
      </p:sp>
      <p:sp>
        <p:nvSpPr>
          <p:cNvPr id="28" name="agenda-item">
            <a:extLst>
              <a:ext uri="{FF2B5EF4-FFF2-40B4-BE49-F238E27FC236}">
                <a16:creationId xmlns:a16="http://schemas.microsoft.com/office/drawing/2014/main" id="{A801E66A-48DA-4AF0-B789-F975DA516054}"/>
              </a:ext>
            </a:extLst>
          </p:cNvPr>
          <p:cNvSpPr>
            <a:spLocks noGrp="1"/>
          </p:cNvSpPr>
          <p:nvPr/>
        </p:nvSpPr>
        <p:spPr>
          <a:xfrm>
            <a:off x="1352550" y="512445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Conclusión</a:t>
            </a:r>
          </a:p>
        </p:txBody>
      </p:sp>
      <p:sp>
        <p:nvSpPr>
          <p:cNvPr id="29" name="agenda-rule">
            <a:extLst>
              <a:ext uri="{FF2B5EF4-FFF2-40B4-BE49-F238E27FC236}">
                <a16:creationId xmlns:a16="http://schemas.microsoft.com/office/drawing/2014/main" id="{B4C6FDD3-C50B-45DD-86F4-CC3357B48046}"/>
              </a:ext>
            </a:extLst>
          </p:cNvPr>
          <p:cNvSpPr>
            <a:spLocks noGrp="1"/>
          </p:cNvSpPr>
          <p:nvPr/>
        </p:nvSpPr>
        <p:spPr>
          <a:xfrm>
            <a:off x="590550" y="5505450"/>
            <a:ext cx="742950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agenda-panel">
            <a:extLst>
              <a:ext uri="{FF2B5EF4-FFF2-40B4-BE49-F238E27FC236}">
                <a16:creationId xmlns:a16="http://schemas.microsoft.com/office/drawing/2014/main" id="{3F4DFA6D-9E09-4EA3-A803-05BFDC573C60}"/>
              </a:ext>
            </a:extLst>
          </p:cNvPr>
          <p:cNvSpPr>
            <a:spLocks noGrp="1"/>
          </p:cNvSpPr>
          <p:nvPr/>
        </p:nvSpPr>
        <p:spPr>
          <a:xfrm>
            <a:off x="8572500" y="1676400"/>
            <a:ext cx="2571750" cy="3143250"/>
          </a:xfrm>
          <a:prstGeom prst="roundRect">
            <a:avLst>
              <a:gd name="adj" fmla="val 2963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ime-title">
            <a:extLst>
              <a:ext uri="{FF2B5EF4-FFF2-40B4-BE49-F238E27FC236}">
                <a16:creationId xmlns:a16="http://schemas.microsoft.com/office/drawing/2014/main" id="{B61159E9-7AD4-4638-9003-5F3388869090}"/>
              </a:ext>
            </a:extLst>
          </p:cNvPr>
          <p:cNvSpPr>
            <a:spLocks noGrp="1"/>
          </p:cNvSpPr>
          <p:nvPr/>
        </p:nvSpPr>
        <p:spPr>
          <a:xfrm>
            <a:off x="8839200" y="20383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Tiempo sugerido</a:t>
            </a:r>
          </a:p>
        </p:txBody>
      </p:sp>
      <p:sp>
        <p:nvSpPr>
          <p:cNvPr id="32" name="time-body">
            <a:extLst>
              <a:ext uri="{FF2B5EF4-FFF2-40B4-BE49-F238E27FC236}">
                <a16:creationId xmlns:a16="http://schemas.microsoft.com/office/drawing/2014/main" id="{6BD04647-272D-4F70-B1A7-E33AA92924EB}"/>
              </a:ext>
            </a:extLst>
          </p:cNvPr>
          <p:cNvSpPr>
            <a:spLocks noGrp="1"/>
          </p:cNvSpPr>
          <p:nvPr/>
        </p:nvSpPr>
        <p:spPr>
          <a:xfrm>
            <a:off x="8839200" y="2571750"/>
            <a:ext cx="20383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96273"/>
                </a:solidFill>
              </a:defRPr>
            </a:pPr>
            <a:r>
              <a:rPr sz="1650" b="0">
                <a:solidFill>
                  <a:srgbClr val="596273"/>
                </a:solidFill>
              </a:rPr>
              <a:t>8 a 12 minutos</a:t>
            </a:r>
          </a:p>
          <a:p>
            <a:endParaRPr sz="1650" b="0">
              <a:solidFill>
                <a:srgbClr val="596273"/>
              </a:solidFill>
            </a:endParaRPr>
          </a:p>
          <a:p>
            <a:pPr algn="l">
              <a:defRPr sz="1650" b="0">
                <a:solidFill>
                  <a:srgbClr val="596273"/>
                </a:solidFill>
              </a:defRPr>
            </a:pPr>
            <a:r>
              <a:rPr sz="1650" b="0">
                <a:solidFill>
                  <a:srgbClr val="596273"/>
                </a:solidFill>
              </a:rPr>
              <a:t>Mostrar primero el login y después hacer un pedido como cliente.</a:t>
            </a:r>
          </a:p>
        </p:txBody>
      </p:sp>
    </p:spTree>
    <p:extLst>
      <p:ext uri="{BB962C8B-B14F-4D97-AF65-F5344CB8AC3E}">
        <p14:creationId xmlns:p14="http://schemas.microsoft.com/office/powerpoint/2010/main" val="1331458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6B14C356-80B0-49BD-A914-3CD9A5EA4AE6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Problema que resuelve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6316274-DF77-480C-ACFF-8A802B911A8B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96273"/>
                </a:solidFill>
              </a:defRPr>
            </a:pPr>
            <a:r>
              <a:rPr sz="1500" b="0">
                <a:solidFill>
                  <a:srgbClr val="596273"/>
                </a:solidFill>
              </a:rPr>
              <a:t>Los procesos separados generan demoras, poca trazabilidad y datos dispersos.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146B78DA-515A-4F55-A20D-7D64E79F0FB6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876300" cy="47625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footer-brand">
            <a:extLst>
              <a:ext uri="{FF2B5EF4-FFF2-40B4-BE49-F238E27FC236}">
                <a16:creationId xmlns:a16="http://schemas.microsoft.com/office/drawing/2014/main" id="{DA1C5800-3DBF-47D1-8270-3A10E848FAE0}"/>
              </a:ext>
            </a:extLst>
          </p:cNvPr>
          <p:cNvSpPr>
            <a:spLocks noGrp="1"/>
          </p:cNvSpPr>
          <p:nvPr/>
        </p:nvSpPr>
        <p:spPr>
          <a:xfrm>
            <a:off x="400050" y="63341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SIG-GLORIA</a:t>
            </a:r>
          </a:p>
        </p:txBody>
      </p:sp>
      <p:sp>
        <p:nvSpPr>
          <p:cNvPr id="5" name="footer-num">
            <a:extLst>
              <a:ext uri="{FF2B5EF4-FFF2-40B4-BE49-F238E27FC236}">
                <a16:creationId xmlns:a16="http://schemas.microsoft.com/office/drawing/2014/main" id="{ACCD5A72-BA2C-4AF0-98C5-F0F1DD551C8A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03</a:t>
            </a:r>
          </a:p>
        </p:txBody>
      </p:sp>
      <p:sp>
        <p:nvSpPr>
          <p:cNvPr id="6" name="problem-box">
            <a:extLst>
              <a:ext uri="{FF2B5EF4-FFF2-40B4-BE49-F238E27FC236}">
                <a16:creationId xmlns:a16="http://schemas.microsoft.com/office/drawing/2014/main" id="{E78A7234-50B6-4C7D-902C-5A7CB88504B1}"/>
              </a:ext>
            </a:extLst>
          </p:cNvPr>
          <p:cNvSpPr>
            <a:spLocks noGrp="1"/>
          </p:cNvSpPr>
          <p:nvPr/>
        </p:nvSpPr>
        <p:spPr>
          <a:xfrm>
            <a:off x="400050" y="1819275"/>
            <a:ext cx="5334000" cy="3219450"/>
          </a:xfrm>
          <a:prstGeom prst="roundRect">
            <a:avLst>
              <a:gd name="adj" fmla="val 2367"/>
            </a:avLst>
          </a:prstGeom>
          <a:solidFill>
            <a:srgbClr val="FAFAFA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problem-title">
            <a:extLst>
              <a:ext uri="{FF2B5EF4-FFF2-40B4-BE49-F238E27FC236}">
                <a16:creationId xmlns:a16="http://schemas.microsoft.com/office/drawing/2014/main" id="{9B9DFF13-6359-4AE4-8845-317DBFC6E710}"/>
              </a:ext>
            </a:extLst>
          </p:cNvPr>
          <p:cNvSpPr>
            <a:spLocks noGrp="1"/>
          </p:cNvSpPr>
          <p:nvPr/>
        </p:nvSpPr>
        <p:spPr>
          <a:xfrm>
            <a:off x="685800" y="2107025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11827"/>
                </a:solidFill>
              </a:defRPr>
            </a:pPr>
            <a:r>
              <a:rPr sz="2100" b="1" dirty="0" err="1">
                <a:solidFill>
                  <a:srgbClr val="111827"/>
                </a:solidFill>
              </a:rPr>
              <a:t>Situación</a:t>
            </a:r>
            <a:r>
              <a:rPr sz="2100" b="1" dirty="0">
                <a:solidFill>
                  <a:srgbClr val="111827"/>
                </a:solidFill>
              </a:rPr>
              <a:t> </a:t>
            </a:r>
            <a:r>
              <a:rPr sz="2100" b="1" dirty="0" err="1">
                <a:solidFill>
                  <a:srgbClr val="111827"/>
                </a:solidFill>
              </a:rPr>
              <a:t>inicial</a:t>
            </a:r>
            <a:endParaRPr sz="2100" b="1" dirty="0">
              <a:solidFill>
                <a:srgbClr val="111827"/>
              </a:solidFill>
            </a:endParaRPr>
          </a:p>
        </p:txBody>
      </p:sp>
      <p:sp>
        <p:nvSpPr>
          <p:cNvPr id="8" name="problem-bullets">
            <a:extLst>
              <a:ext uri="{FF2B5EF4-FFF2-40B4-BE49-F238E27FC236}">
                <a16:creationId xmlns:a16="http://schemas.microsoft.com/office/drawing/2014/main" id="{B64CAFAC-C312-4446-BA58-EDE0891F9CFE}"/>
              </a:ext>
            </a:extLst>
          </p:cNvPr>
          <p:cNvSpPr>
            <a:spLocks noGrp="1"/>
          </p:cNvSpPr>
          <p:nvPr/>
        </p:nvSpPr>
        <p:spPr>
          <a:xfrm>
            <a:off x="685800" y="2779585"/>
            <a:ext cx="4476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 dirty="0">
                <a:solidFill>
                  <a:srgbClr val="111827"/>
                </a:solidFill>
              </a:rPr>
              <a:t>• </a:t>
            </a:r>
            <a:r>
              <a:rPr sz="1575" b="0" dirty="0" err="1">
                <a:solidFill>
                  <a:srgbClr val="111827"/>
                </a:solidFill>
              </a:rPr>
              <a:t>Registros</a:t>
            </a:r>
            <a:r>
              <a:rPr sz="1575" b="0" dirty="0">
                <a:solidFill>
                  <a:srgbClr val="111827"/>
                </a:solidFill>
              </a:rPr>
              <a:t> </a:t>
            </a:r>
            <a:r>
              <a:rPr sz="1575" b="0" dirty="0" err="1">
                <a:solidFill>
                  <a:srgbClr val="111827"/>
                </a:solidFill>
              </a:rPr>
              <a:t>manuales</a:t>
            </a:r>
            <a:r>
              <a:rPr sz="1575" b="0" dirty="0">
                <a:solidFill>
                  <a:srgbClr val="111827"/>
                </a:solidFill>
              </a:rPr>
              <a:t> o </a:t>
            </a:r>
            <a:r>
              <a:rPr sz="1575" b="0" dirty="0" err="1">
                <a:solidFill>
                  <a:srgbClr val="111827"/>
                </a:solidFill>
              </a:rPr>
              <a:t>dispersos</a:t>
            </a:r>
            <a:r>
              <a:rPr sz="1575" b="0" dirty="0">
                <a:solidFill>
                  <a:srgbClr val="111827"/>
                </a:solidFill>
              </a:rPr>
              <a:t> </a:t>
            </a:r>
            <a:r>
              <a:rPr sz="1575" b="0" dirty="0" err="1">
                <a:solidFill>
                  <a:srgbClr val="111827"/>
                </a:solidFill>
              </a:rPr>
              <a:t>por</a:t>
            </a:r>
            <a:r>
              <a:rPr sz="1575" b="0" dirty="0">
                <a:solidFill>
                  <a:srgbClr val="111827"/>
                </a:solidFill>
              </a:rPr>
              <a:t> </a:t>
            </a:r>
            <a:r>
              <a:rPr sz="1575" b="0" dirty="0" err="1">
                <a:solidFill>
                  <a:srgbClr val="111827"/>
                </a:solidFill>
              </a:rPr>
              <a:t>área</a:t>
            </a:r>
            <a:r>
              <a:rPr sz="1575" b="0" dirty="0">
                <a:solidFill>
                  <a:srgbClr val="111827"/>
                </a:solidFill>
              </a:rPr>
              <a:t>.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 dirty="0">
                <a:solidFill>
                  <a:srgbClr val="111827"/>
                </a:solidFill>
              </a:rPr>
              <a:t>• </a:t>
            </a:r>
            <a:r>
              <a:rPr sz="1575" b="0" dirty="0" err="1">
                <a:solidFill>
                  <a:srgbClr val="111827"/>
                </a:solidFill>
              </a:rPr>
              <a:t>Pedidos</a:t>
            </a:r>
            <a:r>
              <a:rPr sz="1575" b="0" dirty="0">
                <a:solidFill>
                  <a:srgbClr val="111827"/>
                </a:solidFill>
              </a:rPr>
              <a:t> sin </a:t>
            </a:r>
            <a:r>
              <a:rPr sz="1575" b="0" dirty="0" err="1">
                <a:solidFill>
                  <a:srgbClr val="111827"/>
                </a:solidFill>
              </a:rPr>
              <a:t>detalle</a:t>
            </a:r>
            <a:r>
              <a:rPr sz="1575" b="0" dirty="0">
                <a:solidFill>
                  <a:srgbClr val="111827"/>
                </a:solidFill>
              </a:rPr>
              <a:t> visible de </a:t>
            </a:r>
            <a:r>
              <a:rPr sz="1575" b="0" dirty="0" err="1">
                <a:solidFill>
                  <a:srgbClr val="111827"/>
                </a:solidFill>
              </a:rPr>
              <a:t>producto</a:t>
            </a:r>
            <a:r>
              <a:rPr sz="1575" b="0" dirty="0">
                <a:solidFill>
                  <a:srgbClr val="111827"/>
                </a:solidFill>
              </a:rPr>
              <a:t> y </a:t>
            </a:r>
            <a:r>
              <a:rPr sz="1575" b="0" dirty="0" err="1">
                <a:solidFill>
                  <a:srgbClr val="111827"/>
                </a:solidFill>
              </a:rPr>
              <a:t>precio</a:t>
            </a:r>
            <a:r>
              <a:rPr sz="1575" b="0" dirty="0">
                <a:solidFill>
                  <a:srgbClr val="111827"/>
                </a:solidFill>
              </a:rPr>
              <a:t>.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 dirty="0">
                <a:solidFill>
                  <a:srgbClr val="111827"/>
                </a:solidFill>
              </a:rPr>
              <a:t>• </a:t>
            </a:r>
            <a:r>
              <a:rPr sz="1575" b="0" dirty="0" err="1">
                <a:solidFill>
                  <a:srgbClr val="111827"/>
                </a:solidFill>
              </a:rPr>
              <a:t>Inventario</a:t>
            </a:r>
            <a:r>
              <a:rPr sz="1575" b="0" dirty="0">
                <a:solidFill>
                  <a:srgbClr val="111827"/>
                </a:solidFill>
              </a:rPr>
              <a:t>, </a:t>
            </a:r>
            <a:r>
              <a:rPr sz="1575" b="0" dirty="0" err="1">
                <a:solidFill>
                  <a:srgbClr val="111827"/>
                </a:solidFill>
              </a:rPr>
              <a:t>ventas</a:t>
            </a:r>
            <a:r>
              <a:rPr sz="1575" b="0" dirty="0">
                <a:solidFill>
                  <a:srgbClr val="111827"/>
                </a:solidFill>
              </a:rPr>
              <a:t> y </a:t>
            </a:r>
            <a:r>
              <a:rPr sz="1575" b="0" dirty="0" err="1">
                <a:solidFill>
                  <a:srgbClr val="111827"/>
                </a:solidFill>
              </a:rPr>
              <a:t>soporte</a:t>
            </a:r>
            <a:r>
              <a:rPr sz="1575" b="0" dirty="0">
                <a:solidFill>
                  <a:srgbClr val="111827"/>
                </a:solidFill>
              </a:rPr>
              <a:t> sin </a:t>
            </a:r>
            <a:r>
              <a:rPr sz="1575" b="0" dirty="0" err="1">
                <a:solidFill>
                  <a:srgbClr val="111827"/>
                </a:solidFill>
              </a:rPr>
              <a:t>una</a:t>
            </a:r>
            <a:r>
              <a:rPr sz="1575" b="0" dirty="0">
                <a:solidFill>
                  <a:srgbClr val="111827"/>
                </a:solidFill>
              </a:rPr>
              <a:t> vista </a:t>
            </a:r>
            <a:r>
              <a:rPr sz="1575" b="0" dirty="0" err="1">
                <a:solidFill>
                  <a:srgbClr val="111827"/>
                </a:solidFill>
              </a:rPr>
              <a:t>integrada</a:t>
            </a:r>
            <a:r>
              <a:rPr sz="1575" b="0" dirty="0">
                <a:solidFill>
                  <a:srgbClr val="111827"/>
                </a:solidFill>
              </a:rPr>
              <a:t>.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 dirty="0">
                <a:solidFill>
                  <a:srgbClr val="111827"/>
                </a:solidFill>
              </a:rPr>
              <a:t>• </a:t>
            </a:r>
            <a:r>
              <a:rPr sz="1575" b="0" dirty="0" err="1">
                <a:solidFill>
                  <a:srgbClr val="111827"/>
                </a:solidFill>
              </a:rPr>
              <a:t>Dificultad</a:t>
            </a:r>
            <a:r>
              <a:rPr sz="1575" b="0" dirty="0">
                <a:solidFill>
                  <a:srgbClr val="111827"/>
                </a:solidFill>
              </a:rPr>
              <a:t> para </a:t>
            </a:r>
            <a:r>
              <a:rPr sz="1575" b="0" dirty="0" err="1">
                <a:solidFill>
                  <a:srgbClr val="111827"/>
                </a:solidFill>
              </a:rPr>
              <a:t>mostrar</a:t>
            </a:r>
            <a:r>
              <a:rPr sz="1575" b="0" dirty="0">
                <a:solidFill>
                  <a:srgbClr val="111827"/>
                </a:solidFill>
              </a:rPr>
              <a:t> </a:t>
            </a:r>
            <a:r>
              <a:rPr sz="1575" b="0" dirty="0" err="1">
                <a:solidFill>
                  <a:srgbClr val="111827"/>
                </a:solidFill>
              </a:rPr>
              <a:t>trazabilidad</a:t>
            </a:r>
            <a:r>
              <a:rPr sz="1575" b="0" dirty="0">
                <a:solidFill>
                  <a:srgbClr val="111827"/>
                </a:solidFill>
              </a:rPr>
              <a:t> </a:t>
            </a:r>
            <a:r>
              <a:rPr sz="1575" b="0" dirty="0" err="1">
                <a:solidFill>
                  <a:srgbClr val="111827"/>
                </a:solidFill>
              </a:rPr>
              <a:t>en</a:t>
            </a:r>
            <a:r>
              <a:rPr sz="1575" b="0" dirty="0">
                <a:solidFill>
                  <a:srgbClr val="111827"/>
                </a:solidFill>
              </a:rPr>
              <a:t> </a:t>
            </a:r>
            <a:r>
              <a:rPr sz="1575" b="0" dirty="0" err="1">
                <a:solidFill>
                  <a:srgbClr val="111827"/>
                </a:solidFill>
              </a:rPr>
              <a:t>una</a:t>
            </a:r>
            <a:r>
              <a:rPr sz="1575" b="0" dirty="0">
                <a:solidFill>
                  <a:srgbClr val="111827"/>
                </a:solidFill>
              </a:rPr>
              <a:t> </a:t>
            </a:r>
            <a:r>
              <a:rPr sz="1575" b="0" dirty="0" err="1">
                <a:solidFill>
                  <a:srgbClr val="111827"/>
                </a:solidFill>
              </a:rPr>
              <a:t>exposición</a:t>
            </a:r>
            <a:r>
              <a:rPr sz="1575" b="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9" name="solution-box">
            <a:extLst>
              <a:ext uri="{FF2B5EF4-FFF2-40B4-BE49-F238E27FC236}">
                <a16:creationId xmlns:a16="http://schemas.microsoft.com/office/drawing/2014/main" id="{100EA228-5936-4C02-9244-29F251556122}"/>
              </a:ext>
            </a:extLst>
          </p:cNvPr>
          <p:cNvSpPr>
            <a:spLocks noGrp="1"/>
          </p:cNvSpPr>
          <p:nvPr/>
        </p:nvSpPr>
        <p:spPr>
          <a:xfrm>
            <a:off x="6477000" y="1819275"/>
            <a:ext cx="5334000" cy="3219450"/>
          </a:xfrm>
          <a:prstGeom prst="roundRect">
            <a:avLst>
              <a:gd name="adj" fmla="val 2367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olution-title">
            <a:extLst>
              <a:ext uri="{FF2B5EF4-FFF2-40B4-BE49-F238E27FC236}">
                <a16:creationId xmlns:a16="http://schemas.microsoft.com/office/drawing/2014/main" id="{CF5A743B-2BFF-431A-9CEF-493C6F2C522C}"/>
              </a:ext>
            </a:extLst>
          </p:cNvPr>
          <p:cNvSpPr>
            <a:spLocks noGrp="1"/>
          </p:cNvSpPr>
          <p:nvPr/>
        </p:nvSpPr>
        <p:spPr>
          <a:xfrm>
            <a:off x="6762750" y="2107025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D61023"/>
                </a:solidFill>
              </a:defRPr>
            </a:pPr>
            <a:r>
              <a:rPr sz="2100" b="1" dirty="0" err="1">
                <a:solidFill>
                  <a:srgbClr val="D61023"/>
                </a:solidFill>
              </a:rPr>
              <a:t>Solución</a:t>
            </a:r>
            <a:r>
              <a:rPr sz="2100" b="1" dirty="0">
                <a:solidFill>
                  <a:srgbClr val="D61023"/>
                </a:solidFill>
              </a:rPr>
              <a:t> </a:t>
            </a:r>
            <a:r>
              <a:rPr sz="2100" b="1" dirty="0" err="1">
                <a:solidFill>
                  <a:srgbClr val="D61023"/>
                </a:solidFill>
              </a:rPr>
              <a:t>propuesta</a:t>
            </a:r>
            <a:endParaRPr sz="2100" b="1" dirty="0">
              <a:solidFill>
                <a:srgbClr val="D61023"/>
              </a:solidFill>
            </a:endParaRPr>
          </a:p>
        </p:txBody>
      </p:sp>
      <p:sp>
        <p:nvSpPr>
          <p:cNvPr id="11" name="solution-bullets">
            <a:extLst>
              <a:ext uri="{FF2B5EF4-FFF2-40B4-BE49-F238E27FC236}">
                <a16:creationId xmlns:a16="http://schemas.microsoft.com/office/drawing/2014/main" id="{3C60263E-2154-4B4A-A941-B65AD5135253}"/>
              </a:ext>
            </a:extLst>
          </p:cNvPr>
          <p:cNvSpPr>
            <a:spLocks noGrp="1"/>
          </p:cNvSpPr>
          <p:nvPr/>
        </p:nvSpPr>
        <p:spPr>
          <a:xfrm>
            <a:off x="6810375" y="2779585"/>
            <a:ext cx="4476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 dirty="0">
                <a:solidFill>
                  <a:srgbClr val="111827"/>
                </a:solidFill>
              </a:rPr>
              <a:t>• Un solo </a:t>
            </a:r>
            <a:r>
              <a:rPr sz="1575" b="0" dirty="0" err="1">
                <a:solidFill>
                  <a:srgbClr val="111827"/>
                </a:solidFill>
              </a:rPr>
              <a:t>sistema</a:t>
            </a:r>
            <a:r>
              <a:rPr sz="1575" b="0" dirty="0">
                <a:solidFill>
                  <a:srgbClr val="111827"/>
                </a:solidFill>
              </a:rPr>
              <a:t> con </a:t>
            </a:r>
            <a:r>
              <a:rPr sz="1575" b="0" dirty="0" err="1">
                <a:solidFill>
                  <a:srgbClr val="111827"/>
                </a:solidFill>
              </a:rPr>
              <a:t>módulos</a:t>
            </a:r>
            <a:r>
              <a:rPr sz="1575" b="0" dirty="0">
                <a:solidFill>
                  <a:srgbClr val="111827"/>
                </a:solidFill>
              </a:rPr>
              <a:t> </a:t>
            </a:r>
            <a:r>
              <a:rPr sz="1575" b="0" dirty="0" err="1">
                <a:solidFill>
                  <a:srgbClr val="111827"/>
                </a:solidFill>
              </a:rPr>
              <a:t>conectados</a:t>
            </a:r>
            <a:r>
              <a:rPr sz="1575" b="0" dirty="0">
                <a:solidFill>
                  <a:srgbClr val="111827"/>
                </a:solidFill>
              </a:rPr>
              <a:t>.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 dirty="0">
                <a:solidFill>
                  <a:srgbClr val="111827"/>
                </a:solidFill>
              </a:rPr>
              <a:t>• Login, </a:t>
            </a:r>
            <a:r>
              <a:rPr sz="1575" b="0" dirty="0" err="1">
                <a:solidFill>
                  <a:srgbClr val="111827"/>
                </a:solidFill>
              </a:rPr>
              <a:t>registro</a:t>
            </a:r>
            <a:r>
              <a:rPr sz="1575" b="0" dirty="0">
                <a:solidFill>
                  <a:srgbClr val="111827"/>
                </a:solidFill>
              </a:rPr>
              <a:t> y roles </a:t>
            </a:r>
            <a:r>
              <a:rPr sz="1575" b="0" dirty="0" err="1">
                <a:solidFill>
                  <a:srgbClr val="111827"/>
                </a:solidFill>
              </a:rPr>
              <a:t>diferenciados</a:t>
            </a:r>
            <a:r>
              <a:rPr sz="1575" b="0" dirty="0">
                <a:solidFill>
                  <a:srgbClr val="111827"/>
                </a:solidFill>
              </a:rPr>
              <a:t>.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 dirty="0">
                <a:solidFill>
                  <a:srgbClr val="111827"/>
                </a:solidFill>
              </a:rPr>
              <a:t>• </a:t>
            </a:r>
            <a:r>
              <a:rPr sz="1575" b="0" dirty="0" err="1">
                <a:solidFill>
                  <a:srgbClr val="111827"/>
                </a:solidFill>
              </a:rPr>
              <a:t>Pedidos</a:t>
            </a:r>
            <a:r>
              <a:rPr sz="1575" b="0" dirty="0">
                <a:solidFill>
                  <a:srgbClr val="111827"/>
                </a:solidFill>
              </a:rPr>
              <a:t> de </a:t>
            </a:r>
            <a:r>
              <a:rPr sz="1575" b="0" dirty="0" err="1">
                <a:solidFill>
                  <a:srgbClr val="111827"/>
                </a:solidFill>
              </a:rPr>
              <a:t>cliente</a:t>
            </a:r>
            <a:r>
              <a:rPr sz="1575" b="0" dirty="0">
                <a:solidFill>
                  <a:srgbClr val="111827"/>
                </a:solidFill>
              </a:rPr>
              <a:t> con </a:t>
            </a:r>
            <a:r>
              <a:rPr sz="1575" b="0" dirty="0" err="1">
                <a:solidFill>
                  <a:srgbClr val="111827"/>
                </a:solidFill>
              </a:rPr>
              <a:t>catálogo</a:t>
            </a:r>
            <a:r>
              <a:rPr sz="1575" b="0" dirty="0">
                <a:solidFill>
                  <a:srgbClr val="111827"/>
                </a:solidFill>
              </a:rPr>
              <a:t> Gloria y </a:t>
            </a:r>
            <a:r>
              <a:rPr sz="1575" b="0" dirty="0" err="1">
                <a:solidFill>
                  <a:srgbClr val="111827"/>
                </a:solidFill>
              </a:rPr>
              <a:t>precios</a:t>
            </a:r>
            <a:r>
              <a:rPr sz="1575" b="0" dirty="0">
                <a:solidFill>
                  <a:srgbClr val="111827"/>
                </a:solidFill>
              </a:rPr>
              <a:t>.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 dirty="0">
                <a:solidFill>
                  <a:srgbClr val="111827"/>
                </a:solidFill>
              </a:rPr>
              <a:t>• Datos </a:t>
            </a:r>
            <a:r>
              <a:rPr sz="1575" b="0" dirty="0" err="1">
                <a:solidFill>
                  <a:srgbClr val="111827"/>
                </a:solidFill>
              </a:rPr>
              <a:t>guardados</a:t>
            </a:r>
            <a:r>
              <a:rPr sz="1575" b="0" dirty="0">
                <a:solidFill>
                  <a:srgbClr val="111827"/>
                </a:solidFill>
              </a:rPr>
              <a:t> </a:t>
            </a:r>
            <a:r>
              <a:rPr sz="1575" b="0" dirty="0" err="1">
                <a:solidFill>
                  <a:srgbClr val="111827"/>
                </a:solidFill>
              </a:rPr>
              <a:t>en</a:t>
            </a:r>
            <a:r>
              <a:rPr sz="1575" b="0" dirty="0">
                <a:solidFill>
                  <a:srgbClr val="111827"/>
                </a:solidFill>
              </a:rPr>
              <a:t> </a:t>
            </a:r>
            <a:r>
              <a:rPr sz="1575" b="0" dirty="0" err="1">
                <a:solidFill>
                  <a:srgbClr val="111827"/>
                </a:solidFill>
              </a:rPr>
              <a:t>el</a:t>
            </a:r>
            <a:r>
              <a:rPr sz="1575" b="0" dirty="0">
                <a:solidFill>
                  <a:srgbClr val="111827"/>
                </a:solidFill>
              </a:rPr>
              <a:t> </a:t>
            </a:r>
            <a:r>
              <a:rPr sz="1575" b="0" dirty="0" err="1">
                <a:solidFill>
                  <a:srgbClr val="111827"/>
                </a:solidFill>
              </a:rPr>
              <a:t>navegador</a:t>
            </a:r>
            <a:r>
              <a:rPr sz="1575" b="0" dirty="0">
                <a:solidFill>
                  <a:srgbClr val="111827"/>
                </a:solidFill>
              </a:rPr>
              <a:t> para </a:t>
            </a:r>
            <a:r>
              <a:rPr sz="1575" b="0" dirty="0" err="1">
                <a:solidFill>
                  <a:srgbClr val="111827"/>
                </a:solidFill>
              </a:rPr>
              <a:t>continuar</a:t>
            </a:r>
            <a:r>
              <a:rPr sz="1575" b="0" dirty="0">
                <a:solidFill>
                  <a:srgbClr val="111827"/>
                </a:solidFill>
              </a:rPr>
              <a:t> la </a:t>
            </a:r>
            <a:r>
              <a:rPr sz="1575" b="0" dirty="0" err="1">
                <a:solidFill>
                  <a:srgbClr val="111827"/>
                </a:solidFill>
              </a:rPr>
              <a:t>sesión</a:t>
            </a:r>
            <a:r>
              <a:rPr sz="1575" b="0" dirty="0">
                <a:solidFill>
                  <a:srgbClr val="111827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598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8135F8DC-F0CF-4289-9ACE-08637D11B2B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Objetivo y alcance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7084108-B5B3-42D6-9F00-DC77B76D7919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96273"/>
                </a:solidFill>
              </a:defRPr>
            </a:pPr>
            <a:r>
              <a:rPr sz="1500" b="0" dirty="0" err="1">
                <a:solidFill>
                  <a:srgbClr val="596273"/>
                </a:solidFill>
              </a:rPr>
              <a:t>Construir</a:t>
            </a:r>
            <a:r>
              <a:rPr sz="1500" b="0" dirty="0">
                <a:solidFill>
                  <a:srgbClr val="596273"/>
                </a:solidFill>
              </a:rPr>
              <a:t> </a:t>
            </a:r>
            <a:r>
              <a:rPr sz="1500" b="0" dirty="0" err="1">
                <a:solidFill>
                  <a:srgbClr val="596273"/>
                </a:solidFill>
              </a:rPr>
              <a:t>una</a:t>
            </a:r>
            <a:r>
              <a:rPr sz="1500" b="0" dirty="0">
                <a:solidFill>
                  <a:srgbClr val="596273"/>
                </a:solidFill>
              </a:rPr>
              <a:t> </a:t>
            </a:r>
            <a:r>
              <a:rPr sz="1500" b="0" dirty="0" err="1">
                <a:solidFill>
                  <a:srgbClr val="596273"/>
                </a:solidFill>
              </a:rPr>
              <a:t>aplicación</a:t>
            </a:r>
            <a:r>
              <a:rPr sz="1500" b="0" dirty="0">
                <a:solidFill>
                  <a:srgbClr val="596273"/>
                </a:solidFill>
              </a:rPr>
              <a:t> </a:t>
            </a:r>
            <a:r>
              <a:rPr sz="1500" b="0" dirty="0" err="1">
                <a:solidFill>
                  <a:srgbClr val="596273"/>
                </a:solidFill>
              </a:rPr>
              <a:t>funcional</a:t>
            </a:r>
            <a:r>
              <a:rPr sz="1500" b="0" dirty="0">
                <a:solidFill>
                  <a:srgbClr val="596273"/>
                </a:solidFill>
              </a:rPr>
              <a:t> para </a:t>
            </a:r>
            <a:r>
              <a:rPr sz="1500" b="0" dirty="0" err="1">
                <a:solidFill>
                  <a:srgbClr val="596273"/>
                </a:solidFill>
              </a:rPr>
              <a:t>simular</a:t>
            </a:r>
            <a:r>
              <a:rPr sz="1500" b="0" dirty="0">
                <a:solidFill>
                  <a:srgbClr val="596273"/>
                </a:solidFill>
              </a:rPr>
              <a:t> </a:t>
            </a:r>
            <a:r>
              <a:rPr sz="1500" b="0" dirty="0" err="1">
                <a:solidFill>
                  <a:srgbClr val="596273"/>
                </a:solidFill>
              </a:rPr>
              <a:t>procesos</a:t>
            </a:r>
            <a:r>
              <a:rPr sz="1500" b="0" dirty="0">
                <a:solidFill>
                  <a:srgbClr val="596273"/>
                </a:solidFill>
              </a:rPr>
              <a:t> clave de Gloria.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EAA6DA99-C94D-46CC-9BFE-5FA7A3E0525E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876300" cy="47625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footer-brand">
            <a:extLst>
              <a:ext uri="{FF2B5EF4-FFF2-40B4-BE49-F238E27FC236}">
                <a16:creationId xmlns:a16="http://schemas.microsoft.com/office/drawing/2014/main" id="{BD635A1B-5DA0-463A-ADEF-45876FCE6282}"/>
              </a:ext>
            </a:extLst>
          </p:cNvPr>
          <p:cNvSpPr>
            <a:spLocks noGrp="1"/>
          </p:cNvSpPr>
          <p:nvPr/>
        </p:nvSpPr>
        <p:spPr>
          <a:xfrm>
            <a:off x="400050" y="63341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SIG-GLORIA</a:t>
            </a:r>
          </a:p>
        </p:txBody>
      </p:sp>
      <p:sp>
        <p:nvSpPr>
          <p:cNvPr id="5" name="footer-num">
            <a:extLst>
              <a:ext uri="{FF2B5EF4-FFF2-40B4-BE49-F238E27FC236}">
                <a16:creationId xmlns:a16="http://schemas.microsoft.com/office/drawing/2014/main" id="{AFA8AA7E-7EAE-4B31-9D66-EA38ADC10CE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04</a:t>
            </a:r>
          </a:p>
        </p:txBody>
      </p:sp>
      <p:sp>
        <p:nvSpPr>
          <p:cNvPr id="6" name="metric-box">
            <a:extLst>
              <a:ext uri="{FF2B5EF4-FFF2-40B4-BE49-F238E27FC236}">
                <a16:creationId xmlns:a16="http://schemas.microsoft.com/office/drawing/2014/main" id="{7E87B94D-EE36-4F47-8B67-89008F25C2FF}"/>
              </a:ext>
            </a:extLst>
          </p:cNvPr>
          <p:cNvSpPr>
            <a:spLocks noGrp="1"/>
          </p:cNvSpPr>
          <p:nvPr/>
        </p:nvSpPr>
        <p:spPr>
          <a:xfrm>
            <a:off x="400050" y="1799082"/>
            <a:ext cx="2476500" cy="2059686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metric-value">
            <a:extLst>
              <a:ext uri="{FF2B5EF4-FFF2-40B4-BE49-F238E27FC236}">
                <a16:creationId xmlns:a16="http://schemas.microsoft.com/office/drawing/2014/main" id="{21BDA7B9-8E1E-44BD-9D8F-8994BF919699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D61023"/>
                </a:solidFill>
              </a:defRPr>
            </a:pPr>
            <a:r>
              <a:rPr sz="3000" b="1">
                <a:solidFill>
                  <a:srgbClr val="D61023"/>
                </a:solidFill>
              </a:rPr>
              <a:t>2 roles</a:t>
            </a:r>
          </a:p>
        </p:txBody>
      </p:sp>
      <p:sp>
        <p:nvSpPr>
          <p:cNvPr id="8" name="metric-label">
            <a:extLst>
              <a:ext uri="{FF2B5EF4-FFF2-40B4-BE49-F238E27FC236}">
                <a16:creationId xmlns:a16="http://schemas.microsoft.com/office/drawing/2014/main" id="{9B132E2D-0AF6-419D-94E8-DE97FB88CD4D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2057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 dirty="0" err="1">
                <a:solidFill>
                  <a:srgbClr val="111827"/>
                </a:solidFill>
              </a:rPr>
              <a:t>Administrador</a:t>
            </a:r>
            <a:r>
              <a:rPr sz="1350" b="0" dirty="0">
                <a:solidFill>
                  <a:srgbClr val="111827"/>
                </a:solidFill>
              </a:rPr>
              <a:t> y </a:t>
            </a:r>
            <a:r>
              <a:rPr sz="1350" b="0" dirty="0" err="1">
                <a:solidFill>
                  <a:srgbClr val="111827"/>
                </a:solidFill>
              </a:rPr>
              <a:t>cliente</a:t>
            </a:r>
            <a:r>
              <a:rPr sz="1350" b="0" dirty="0">
                <a:solidFill>
                  <a:srgbClr val="111827"/>
                </a:solidFill>
              </a:rPr>
              <a:t> con </a:t>
            </a:r>
            <a:r>
              <a:rPr sz="1350" b="0" dirty="0" err="1">
                <a:solidFill>
                  <a:srgbClr val="111827"/>
                </a:solidFill>
              </a:rPr>
              <a:t>navegación</a:t>
            </a:r>
            <a:r>
              <a:rPr sz="1350" b="0" dirty="0">
                <a:solidFill>
                  <a:srgbClr val="111827"/>
                </a:solidFill>
              </a:rPr>
              <a:t> </a:t>
            </a:r>
            <a:r>
              <a:rPr sz="1350" b="0" dirty="0" err="1">
                <a:solidFill>
                  <a:srgbClr val="111827"/>
                </a:solidFill>
              </a:rPr>
              <a:t>diferente</a:t>
            </a:r>
            <a:r>
              <a:rPr sz="1350" b="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9" name="metric-box">
            <a:extLst>
              <a:ext uri="{FF2B5EF4-FFF2-40B4-BE49-F238E27FC236}">
                <a16:creationId xmlns:a16="http://schemas.microsoft.com/office/drawing/2014/main" id="{983003DD-0614-491F-BE16-18B762B518F6}"/>
              </a:ext>
            </a:extLst>
          </p:cNvPr>
          <p:cNvSpPr>
            <a:spLocks noGrp="1"/>
          </p:cNvSpPr>
          <p:nvPr/>
        </p:nvSpPr>
        <p:spPr>
          <a:xfrm>
            <a:off x="3352800" y="1809750"/>
            <a:ext cx="2476500" cy="2049018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metric-value">
            <a:extLst>
              <a:ext uri="{FF2B5EF4-FFF2-40B4-BE49-F238E27FC236}">
                <a16:creationId xmlns:a16="http://schemas.microsoft.com/office/drawing/2014/main" id="{24C3F962-3F44-435F-9A1D-0DB3CA6A3430}"/>
              </a:ext>
            </a:extLst>
          </p:cNvPr>
          <p:cNvSpPr>
            <a:spLocks noGrp="1"/>
          </p:cNvSpPr>
          <p:nvPr/>
        </p:nvSpPr>
        <p:spPr>
          <a:xfrm>
            <a:off x="3562350" y="2057400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F75CB"/>
                </a:solidFill>
              </a:defRPr>
            </a:pPr>
            <a:r>
              <a:rPr sz="3000" b="1" dirty="0">
                <a:solidFill>
                  <a:srgbClr val="1F75CB"/>
                </a:solidFill>
              </a:rPr>
              <a:t>8 </a:t>
            </a:r>
            <a:r>
              <a:rPr sz="3000" b="1" dirty="0" err="1">
                <a:solidFill>
                  <a:srgbClr val="1F75CB"/>
                </a:solidFill>
              </a:rPr>
              <a:t>módulos</a:t>
            </a:r>
            <a:endParaRPr sz="3000" b="1" dirty="0">
              <a:solidFill>
                <a:srgbClr val="1F75CB"/>
              </a:solidFill>
            </a:endParaRPr>
          </a:p>
        </p:txBody>
      </p:sp>
      <p:sp>
        <p:nvSpPr>
          <p:cNvPr id="11" name="metric-label">
            <a:extLst>
              <a:ext uri="{FF2B5EF4-FFF2-40B4-BE49-F238E27FC236}">
                <a16:creationId xmlns:a16="http://schemas.microsoft.com/office/drawing/2014/main" id="{E2A6DA4C-B9AD-4CB9-B492-AFBA2C0E1C3A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2057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 dirty="0">
                <a:solidFill>
                  <a:srgbClr val="111827"/>
                </a:solidFill>
              </a:rPr>
              <a:t>Dashboard, </a:t>
            </a:r>
            <a:r>
              <a:rPr sz="1350" b="0" dirty="0" err="1">
                <a:solidFill>
                  <a:srgbClr val="111827"/>
                </a:solidFill>
              </a:rPr>
              <a:t>productores</a:t>
            </a:r>
            <a:r>
              <a:rPr sz="1350" b="0" dirty="0">
                <a:solidFill>
                  <a:srgbClr val="111827"/>
                </a:solidFill>
              </a:rPr>
              <a:t>, </a:t>
            </a:r>
            <a:r>
              <a:rPr sz="1350" b="0" dirty="0" err="1">
                <a:solidFill>
                  <a:srgbClr val="111827"/>
                </a:solidFill>
              </a:rPr>
              <a:t>calidad</a:t>
            </a:r>
            <a:r>
              <a:rPr sz="1350" b="0" dirty="0">
                <a:solidFill>
                  <a:srgbClr val="111827"/>
                </a:solidFill>
              </a:rPr>
              <a:t>, </a:t>
            </a:r>
            <a:r>
              <a:rPr sz="1350" b="0" dirty="0" err="1">
                <a:solidFill>
                  <a:srgbClr val="111827"/>
                </a:solidFill>
              </a:rPr>
              <a:t>producción</a:t>
            </a:r>
            <a:r>
              <a:rPr sz="1350" b="0" dirty="0">
                <a:solidFill>
                  <a:srgbClr val="111827"/>
                </a:solidFill>
              </a:rPr>
              <a:t>, </a:t>
            </a:r>
            <a:r>
              <a:rPr sz="1350" b="0" dirty="0" err="1">
                <a:solidFill>
                  <a:srgbClr val="111827"/>
                </a:solidFill>
              </a:rPr>
              <a:t>inventario</a:t>
            </a:r>
            <a:r>
              <a:rPr sz="1350" b="0" dirty="0">
                <a:solidFill>
                  <a:srgbClr val="111827"/>
                </a:solidFill>
              </a:rPr>
              <a:t>, </a:t>
            </a:r>
            <a:r>
              <a:rPr sz="1350" b="0" dirty="0" err="1">
                <a:solidFill>
                  <a:srgbClr val="111827"/>
                </a:solidFill>
              </a:rPr>
              <a:t>ventas</a:t>
            </a:r>
            <a:r>
              <a:rPr sz="1350" b="0" dirty="0">
                <a:solidFill>
                  <a:srgbClr val="111827"/>
                </a:solidFill>
              </a:rPr>
              <a:t>, portal, </a:t>
            </a:r>
            <a:r>
              <a:rPr sz="1350" b="0" dirty="0" err="1">
                <a:solidFill>
                  <a:srgbClr val="111827"/>
                </a:solidFill>
              </a:rPr>
              <a:t>soporte</a:t>
            </a:r>
            <a:r>
              <a:rPr sz="1350" b="0" dirty="0">
                <a:solidFill>
                  <a:srgbClr val="111827"/>
                </a:solidFill>
              </a:rPr>
              <a:t> y </a:t>
            </a:r>
            <a:r>
              <a:rPr sz="1350" b="0" dirty="0" err="1">
                <a:solidFill>
                  <a:srgbClr val="111827"/>
                </a:solidFill>
              </a:rPr>
              <a:t>reportes</a:t>
            </a:r>
            <a:r>
              <a:rPr sz="1350" b="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12" name="metric-box">
            <a:extLst>
              <a:ext uri="{FF2B5EF4-FFF2-40B4-BE49-F238E27FC236}">
                <a16:creationId xmlns:a16="http://schemas.microsoft.com/office/drawing/2014/main" id="{3141CF69-3BE2-4841-8980-EAE0A9B2A53F}"/>
              </a:ext>
            </a:extLst>
          </p:cNvPr>
          <p:cNvSpPr>
            <a:spLocks noGrp="1"/>
          </p:cNvSpPr>
          <p:nvPr/>
        </p:nvSpPr>
        <p:spPr>
          <a:xfrm>
            <a:off x="6305550" y="1809750"/>
            <a:ext cx="2476500" cy="2049018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metric-value">
            <a:extLst>
              <a:ext uri="{FF2B5EF4-FFF2-40B4-BE49-F238E27FC236}">
                <a16:creationId xmlns:a16="http://schemas.microsoft.com/office/drawing/2014/main" id="{0D664746-352B-4358-B5FB-8305B5A89FFA}"/>
              </a:ext>
            </a:extLst>
          </p:cNvPr>
          <p:cNvSpPr>
            <a:spLocks noGrp="1"/>
          </p:cNvSpPr>
          <p:nvPr/>
        </p:nvSpPr>
        <p:spPr>
          <a:xfrm>
            <a:off x="6515100" y="2057400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9447"/>
                </a:solidFill>
              </a:defRPr>
            </a:pPr>
            <a:r>
              <a:rPr sz="3000" b="1">
                <a:solidFill>
                  <a:srgbClr val="119447"/>
                </a:solidFill>
              </a:rPr>
              <a:t>CRUD</a:t>
            </a:r>
          </a:p>
        </p:txBody>
      </p:sp>
      <p:sp>
        <p:nvSpPr>
          <p:cNvPr id="14" name="metric-label">
            <a:extLst>
              <a:ext uri="{FF2B5EF4-FFF2-40B4-BE49-F238E27FC236}">
                <a16:creationId xmlns:a16="http://schemas.microsoft.com/office/drawing/2014/main" id="{C9A12EF1-64DE-48EE-B3B4-D4E747A74A31}"/>
              </a:ext>
            </a:extLst>
          </p:cNvPr>
          <p:cNvSpPr>
            <a:spLocks noGrp="1"/>
          </p:cNvSpPr>
          <p:nvPr/>
        </p:nvSpPr>
        <p:spPr>
          <a:xfrm>
            <a:off x="6515100" y="2686050"/>
            <a:ext cx="2057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 dirty="0">
                <a:solidFill>
                  <a:srgbClr val="111827"/>
                </a:solidFill>
              </a:rPr>
              <a:t>Registro, consulta, </a:t>
            </a:r>
            <a:r>
              <a:rPr sz="1350" b="0" dirty="0" err="1">
                <a:solidFill>
                  <a:srgbClr val="111827"/>
                </a:solidFill>
              </a:rPr>
              <a:t>edición</a:t>
            </a:r>
            <a:r>
              <a:rPr sz="1350" b="0" dirty="0">
                <a:solidFill>
                  <a:srgbClr val="111827"/>
                </a:solidFill>
              </a:rPr>
              <a:t> y </a:t>
            </a:r>
            <a:r>
              <a:rPr sz="1350" b="0" dirty="0" err="1">
                <a:solidFill>
                  <a:srgbClr val="111827"/>
                </a:solidFill>
              </a:rPr>
              <a:t>eliminación</a:t>
            </a:r>
            <a:r>
              <a:rPr sz="1350" b="0" dirty="0">
                <a:solidFill>
                  <a:srgbClr val="111827"/>
                </a:solidFill>
              </a:rPr>
              <a:t> </a:t>
            </a:r>
            <a:r>
              <a:rPr sz="1350" b="0" dirty="0" err="1">
                <a:solidFill>
                  <a:srgbClr val="111827"/>
                </a:solidFill>
              </a:rPr>
              <a:t>en</a:t>
            </a:r>
            <a:r>
              <a:rPr sz="1350" b="0" dirty="0">
                <a:solidFill>
                  <a:srgbClr val="111827"/>
                </a:solidFill>
              </a:rPr>
              <a:t> </a:t>
            </a:r>
            <a:r>
              <a:rPr sz="1350" b="0" dirty="0" err="1">
                <a:solidFill>
                  <a:srgbClr val="111827"/>
                </a:solidFill>
              </a:rPr>
              <a:t>módulos</a:t>
            </a:r>
            <a:r>
              <a:rPr sz="1350" b="0" dirty="0">
                <a:solidFill>
                  <a:srgbClr val="111827"/>
                </a:solidFill>
              </a:rPr>
              <a:t> </a:t>
            </a:r>
            <a:r>
              <a:rPr sz="1350" b="0" dirty="0" err="1">
                <a:solidFill>
                  <a:srgbClr val="111827"/>
                </a:solidFill>
              </a:rPr>
              <a:t>operativos</a:t>
            </a:r>
            <a:r>
              <a:rPr sz="1350" b="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15" name="metric-box">
            <a:extLst>
              <a:ext uri="{FF2B5EF4-FFF2-40B4-BE49-F238E27FC236}">
                <a16:creationId xmlns:a16="http://schemas.microsoft.com/office/drawing/2014/main" id="{10B462CD-1977-4FC2-AA4C-332FE81C9B58}"/>
              </a:ext>
            </a:extLst>
          </p:cNvPr>
          <p:cNvSpPr>
            <a:spLocks noGrp="1"/>
          </p:cNvSpPr>
          <p:nvPr/>
        </p:nvSpPr>
        <p:spPr>
          <a:xfrm>
            <a:off x="9258300" y="1809750"/>
            <a:ext cx="2476500" cy="2049018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metric-value">
            <a:extLst>
              <a:ext uri="{FF2B5EF4-FFF2-40B4-BE49-F238E27FC236}">
                <a16:creationId xmlns:a16="http://schemas.microsoft.com/office/drawing/2014/main" id="{84424977-5BB0-44A2-AE69-2E1195A1A6A0}"/>
              </a:ext>
            </a:extLst>
          </p:cNvPr>
          <p:cNvSpPr>
            <a:spLocks noGrp="1"/>
          </p:cNvSpPr>
          <p:nvPr/>
        </p:nvSpPr>
        <p:spPr>
          <a:xfrm>
            <a:off x="9467850" y="2057400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F59E0B"/>
                </a:solidFill>
              </a:defRPr>
            </a:pPr>
            <a:r>
              <a:rPr sz="3000" b="1" dirty="0" err="1">
                <a:solidFill>
                  <a:srgbClr val="F59E0B"/>
                </a:solidFill>
              </a:rPr>
              <a:t>Pedidos</a:t>
            </a:r>
            <a:endParaRPr sz="3000" b="1" dirty="0">
              <a:solidFill>
                <a:srgbClr val="F59E0B"/>
              </a:solidFill>
            </a:endParaRPr>
          </a:p>
        </p:txBody>
      </p:sp>
      <p:sp>
        <p:nvSpPr>
          <p:cNvPr id="17" name="metric-label">
            <a:extLst>
              <a:ext uri="{FF2B5EF4-FFF2-40B4-BE49-F238E27FC236}">
                <a16:creationId xmlns:a16="http://schemas.microsoft.com/office/drawing/2014/main" id="{24608049-6A34-48E9-8A3D-158394BEC8BD}"/>
              </a:ext>
            </a:extLst>
          </p:cNvPr>
          <p:cNvSpPr>
            <a:spLocks noGrp="1"/>
          </p:cNvSpPr>
          <p:nvPr/>
        </p:nvSpPr>
        <p:spPr>
          <a:xfrm>
            <a:off x="9467850" y="2686050"/>
            <a:ext cx="2057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Catálogo de productos Gloria con cantidad, precio unitario y total.</a:t>
            </a:r>
          </a:p>
        </p:txBody>
      </p:sp>
      <p:sp>
        <p:nvSpPr>
          <p:cNvPr id="18" name="scope-title">
            <a:extLst>
              <a:ext uri="{FF2B5EF4-FFF2-40B4-BE49-F238E27FC236}">
                <a16:creationId xmlns:a16="http://schemas.microsoft.com/office/drawing/2014/main" id="{909B9BEA-FED4-48DF-9C0E-BD0AA4655CD4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Alcance funcional</a:t>
            </a:r>
          </a:p>
        </p:txBody>
      </p:sp>
      <p:sp>
        <p:nvSpPr>
          <p:cNvPr id="19" name="scope-body">
            <a:extLst>
              <a:ext uri="{FF2B5EF4-FFF2-40B4-BE49-F238E27FC236}">
                <a16:creationId xmlns:a16="http://schemas.microsoft.com/office/drawing/2014/main" id="{2C3FC67A-392B-4A29-96DF-FBBF690C0380}"/>
              </a:ext>
            </a:extLst>
          </p:cNvPr>
          <p:cNvSpPr>
            <a:spLocks noGrp="1"/>
          </p:cNvSpPr>
          <p:nvPr/>
        </p:nvSpPr>
        <p:spPr>
          <a:xfrm>
            <a:off x="2952750" y="4724400"/>
            <a:ext cx="8096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96273"/>
                </a:solidFill>
              </a:defRPr>
            </a:pPr>
            <a:r>
              <a:rPr sz="1650" b="0" dirty="0">
                <a:solidFill>
                  <a:srgbClr val="596273"/>
                </a:solidFill>
              </a:rPr>
              <a:t>El </a:t>
            </a:r>
            <a:r>
              <a:rPr sz="1650" b="0" dirty="0" err="1">
                <a:solidFill>
                  <a:srgbClr val="596273"/>
                </a:solidFill>
              </a:rPr>
              <a:t>sistema</a:t>
            </a:r>
            <a:r>
              <a:rPr sz="1650" b="0" dirty="0">
                <a:solidFill>
                  <a:srgbClr val="596273"/>
                </a:solidFill>
              </a:rPr>
              <a:t> </a:t>
            </a:r>
            <a:r>
              <a:rPr sz="1650" b="0" dirty="0" err="1">
                <a:solidFill>
                  <a:srgbClr val="596273"/>
                </a:solidFill>
              </a:rPr>
              <a:t>permite</a:t>
            </a:r>
            <a:r>
              <a:rPr sz="1650" b="0" dirty="0">
                <a:solidFill>
                  <a:srgbClr val="596273"/>
                </a:solidFill>
              </a:rPr>
              <a:t> </a:t>
            </a:r>
            <a:r>
              <a:rPr sz="1650" b="0" dirty="0" err="1">
                <a:solidFill>
                  <a:srgbClr val="596273"/>
                </a:solidFill>
              </a:rPr>
              <a:t>iniciar</a:t>
            </a:r>
            <a:r>
              <a:rPr sz="1650" b="0" dirty="0">
                <a:solidFill>
                  <a:srgbClr val="596273"/>
                </a:solidFill>
              </a:rPr>
              <a:t> </a:t>
            </a:r>
            <a:r>
              <a:rPr sz="1650" b="0" dirty="0" err="1">
                <a:solidFill>
                  <a:srgbClr val="596273"/>
                </a:solidFill>
              </a:rPr>
              <a:t>sesión</a:t>
            </a:r>
            <a:r>
              <a:rPr sz="1650" b="0" dirty="0">
                <a:solidFill>
                  <a:srgbClr val="596273"/>
                </a:solidFill>
              </a:rPr>
              <a:t>, </a:t>
            </a:r>
            <a:r>
              <a:rPr sz="1650" b="0" dirty="0" err="1">
                <a:solidFill>
                  <a:srgbClr val="596273"/>
                </a:solidFill>
              </a:rPr>
              <a:t>crear</a:t>
            </a:r>
            <a:r>
              <a:rPr sz="1650" b="0" dirty="0">
                <a:solidFill>
                  <a:srgbClr val="596273"/>
                </a:solidFill>
              </a:rPr>
              <a:t> </a:t>
            </a:r>
            <a:r>
              <a:rPr sz="1650" b="0" dirty="0" err="1">
                <a:solidFill>
                  <a:srgbClr val="596273"/>
                </a:solidFill>
              </a:rPr>
              <a:t>cuentas</a:t>
            </a:r>
            <a:r>
              <a:rPr sz="1650" b="0" dirty="0">
                <a:solidFill>
                  <a:srgbClr val="596273"/>
                </a:solidFill>
              </a:rPr>
              <a:t>, registrar </a:t>
            </a:r>
            <a:r>
              <a:rPr sz="1650" b="0" dirty="0" err="1">
                <a:solidFill>
                  <a:srgbClr val="596273"/>
                </a:solidFill>
              </a:rPr>
              <a:t>información</a:t>
            </a:r>
            <a:r>
              <a:rPr sz="1650" b="0" dirty="0">
                <a:solidFill>
                  <a:srgbClr val="596273"/>
                </a:solidFill>
              </a:rPr>
              <a:t> </a:t>
            </a:r>
            <a:r>
              <a:rPr sz="1650" b="0" dirty="0" err="1">
                <a:solidFill>
                  <a:srgbClr val="596273"/>
                </a:solidFill>
              </a:rPr>
              <a:t>operativa</a:t>
            </a:r>
            <a:r>
              <a:rPr sz="1650" b="0" dirty="0">
                <a:solidFill>
                  <a:srgbClr val="596273"/>
                </a:solidFill>
              </a:rPr>
              <a:t>, </a:t>
            </a:r>
            <a:r>
              <a:rPr sz="1650" b="0" dirty="0" err="1">
                <a:solidFill>
                  <a:srgbClr val="596273"/>
                </a:solidFill>
              </a:rPr>
              <a:t>consultar</a:t>
            </a:r>
            <a:r>
              <a:rPr sz="1650" b="0" dirty="0">
                <a:solidFill>
                  <a:srgbClr val="596273"/>
                </a:solidFill>
              </a:rPr>
              <a:t> </a:t>
            </a:r>
            <a:r>
              <a:rPr sz="1650" b="0" dirty="0" err="1">
                <a:solidFill>
                  <a:srgbClr val="596273"/>
                </a:solidFill>
              </a:rPr>
              <a:t>pedidos</a:t>
            </a:r>
            <a:r>
              <a:rPr sz="1650" b="0" dirty="0">
                <a:solidFill>
                  <a:srgbClr val="596273"/>
                </a:solidFill>
              </a:rPr>
              <a:t>, </a:t>
            </a:r>
            <a:r>
              <a:rPr sz="1650" b="0" dirty="0" err="1">
                <a:solidFill>
                  <a:srgbClr val="596273"/>
                </a:solidFill>
              </a:rPr>
              <a:t>emitir</a:t>
            </a:r>
            <a:r>
              <a:rPr sz="1650" b="0" dirty="0">
                <a:solidFill>
                  <a:srgbClr val="596273"/>
                </a:solidFill>
              </a:rPr>
              <a:t> </a:t>
            </a:r>
            <a:r>
              <a:rPr sz="1650" b="0" dirty="0" err="1">
                <a:solidFill>
                  <a:srgbClr val="596273"/>
                </a:solidFill>
              </a:rPr>
              <a:t>comprobantes</a:t>
            </a:r>
            <a:r>
              <a:rPr sz="1650" b="0" dirty="0">
                <a:solidFill>
                  <a:srgbClr val="596273"/>
                </a:solidFill>
              </a:rPr>
              <a:t> y </a:t>
            </a:r>
            <a:r>
              <a:rPr sz="1650" b="0" dirty="0" err="1">
                <a:solidFill>
                  <a:srgbClr val="596273"/>
                </a:solidFill>
              </a:rPr>
              <a:t>mantener</a:t>
            </a:r>
            <a:r>
              <a:rPr sz="1650" b="0" dirty="0">
                <a:solidFill>
                  <a:srgbClr val="596273"/>
                </a:solidFill>
              </a:rPr>
              <a:t> </a:t>
            </a:r>
            <a:r>
              <a:rPr sz="1650" b="0" dirty="0" err="1">
                <a:solidFill>
                  <a:srgbClr val="596273"/>
                </a:solidFill>
              </a:rPr>
              <a:t>datos</a:t>
            </a:r>
            <a:r>
              <a:rPr sz="1650" b="0" dirty="0">
                <a:solidFill>
                  <a:srgbClr val="596273"/>
                </a:solidFill>
              </a:rPr>
              <a:t> con </a:t>
            </a:r>
            <a:r>
              <a:rPr sz="1650" b="0" dirty="0" err="1">
                <a:solidFill>
                  <a:srgbClr val="596273"/>
                </a:solidFill>
              </a:rPr>
              <a:t>LocalStorage</a:t>
            </a:r>
            <a:r>
              <a:rPr sz="1650" b="0" dirty="0">
                <a:solidFill>
                  <a:srgbClr val="596273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2424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-title">
            <a:extLst>
              <a:ext uri="{FF2B5EF4-FFF2-40B4-BE49-F238E27FC236}">
                <a16:creationId xmlns:a16="http://schemas.microsoft.com/office/drawing/2014/main" id="{E296305C-F6AD-42EC-B658-6C78F506749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Arquitectura funcional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2F6B4A64-7693-4D6A-9DBB-A570DDCE32E9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96273"/>
                </a:solidFill>
              </a:defRPr>
            </a:pPr>
            <a:r>
              <a:rPr sz="1500" b="0">
                <a:solidFill>
                  <a:srgbClr val="596273"/>
                </a:solidFill>
              </a:rPr>
              <a:t>La app organiza usuarios, datos y módulos desde un archivo web ejecutable.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33033C6C-CE91-421C-AAC8-017B52CFFC9E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876300" cy="47625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footer-brand">
            <a:extLst>
              <a:ext uri="{FF2B5EF4-FFF2-40B4-BE49-F238E27FC236}">
                <a16:creationId xmlns:a16="http://schemas.microsoft.com/office/drawing/2014/main" id="{DE202404-78C7-4432-9CEB-A27B646C671B}"/>
              </a:ext>
            </a:extLst>
          </p:cNvPr>
          <p:cNvSpPr>
            <a:spLocks noGrp="1"/>
          </p:cNvSpPr>
          <p:nvPr/>
        </p:nvSpPr>
        <p:spPr>
          <a:xfrm>
            <a:off x="400050" y="63341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SIG-GLORIA</a:t>
            </a:r>
          </a:p>
        </p:txBody>
      </p:sp>
      <p:sp>
        <p:nvSpPr>
          <p:cNvPr id="5" name="footer-num">
            <a:extLst>
              <a:ext uri="{FF2B5EF4-FFF2-40B4-BE49-F238E27FC236}">
                <a16:creationId xmlns:a16="http://schemas.microsoft.com/office/drawing/2014/main" id="{4811F6CD-C2B8-43D4-9D48-27F7F1FC9BB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05</a:t>
            </a:r>
          </a:p>
        </p:txBody>
      </p:sp>
      <p:sp>
        <p:nvSpPr>
          <p:cNvPr id="6" name="step-box">
            <a:extLst>
              <a:ext uri="{FF2B5EF4-FFF2-40B4-BE49-F238E27FC236}">
                <a16:creationId xmlns:a16="http://schemas.microsoft.com/office/drawing/2014/main" id="{2ED4A86A-EC46-42CA-84C7-F4B84399AB3B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3238500" cy="1257300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tep-number">
            <a:extLst>
              <a:ext uri="{FF2B5EF4-FFF2-40B4-BE49-F238E27FC236}">
                <a16:creationId xmlns:a16="http://schemas.microsoft.com/office/drawing/2014/main" id="{934E10A2-1773-4CC6-866E-5AF241B27F35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361950" cy="361950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step-num-text">
            <a:extLst>
              <a:ext uri="{FF2B5EF4-FFF2-40B4-BE49-F238E27FC236}">
                <a16:creationId xmlns:a16="http://schemas.microsoft.com/office/drawing/2014/main" id="{E1F0F636-4A14-4BF6-9C3B-EF78618FD6D9}"/>
              </a:ext>
            </a:extLst>
          </p:cNvPr>
          <p:cNvSpPr>
            <a:spLocks noGrp="1"/>
          </p:cNvSpPr>
          <p:nvPr/>
        </p:nvSpPr>
        <p:spPr>
          <a:xfrm>
            <a:off x="723900" y="19335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step-head">
            <a:extLst>
              <a:ext uri="{FF2B5EF4-FFF2-40B4-BE49-F238E27FC236}">
                <a16:creationId xmlns:a16="http://schemas.microsoft.com/office/drawing/2014/main" id="{6EEB17C1-FB4B-476A-B854-4BC5ED93AA3E}"/>
              </a:ext>
            </a:extLst>
          </p:cNvPr>
          <p:cNvSpPr>
            <a:spLocks noGrp="1"/>
          </p:cNvSpPr>
          <p:nvPr/>
        </p:nvSpPr>
        <p:spPr>
          <a:xfrm>
            <a:off x="1219200" y="186690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Autenticación</a:t>
            </a:r>
          </a:p>
        </p:txBody>
      </p:sp>
      <p:sp>
        <p:nvSpPr>
          <p:cNvPr id="10" name="step-body">
            <a:extLst>
              <a:ext uri="{FF2B5EF4-FFF2-40B4-BE49-F238E27FC236}">
                <a16:creationId xmlns:a16="http://schemas.microsoft.com/office/drawing/2014/main" id="{59DF372A-5E2E-48D2-84D7-7F9E0BE6BA3B}"/>
              </a:ext>
            </a:extLst>
          </p:cNvPr>
          <p:cNvSpPr>
            <a:spLocks noGrp="1"/>
          </p:cNvSpPr>
          <p:nvPr/>
        </p:nvSpPr>
        <p:spPr>
          <a:xfrm>
            <a:off x="1219200" y="2228850"/>
            <a:ext cx="2362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96273"/>
                </a:solidFill>
              </a:defRPr>
            </a:pPr>
            <a:r>
              <a:rPr sz="1275" b="0">
                <a:solidFill>
                  <a:srgbClr val="596273"/>
                </a:solidFill>
              </a:rPr>
              <a:t>Login, registro y aviso de sesión exitosa.</a:t>
            </a:r>
          </a:p>
        </p:txBody>
      </p:sp>
      <p:sp>
        <p:nvSpPr>
          <p:cNvPr id="11" name="step-box">
            <a:extLst>
              <a:ext uri="{FF2B5EF4-FFF2-40B4-BE49-F238E27FC236}">
                <a16:creationId xmlns:a16="http://schemas.microsoft.com/office/drawing/2014/main" id="{7C4068DB-44CE-4746-B072-EFA14E1D1E7E}"/>
              </a:ext>
            </a:extLst>
          </p:cNvPr>
          <p:cNvSpPr>
            <a:spLocks noGrp="1"/>
          </p:cNvSpPr>
          <p:nvPr/>
        </p:nvSpPr>
        <p:spPr>
          <a:xfrm>
            <a:off x="4476750" y="1695450"/>
            <a:ext cx="3238500" cy="1257300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tep-number">
            <a:extLst>
              <a:ext uri="{FF2B5EF4-FFF2-40B4-BE49-F238E27FC236}">
                <a16:creationId xmlns:a16="http://schemas.microsoft.com/office/drawing/2014/main" id="{30583686-DE02-4C42-AF7E-C8F6D1BF0CDA}"/>
              </a:ext>
            </a:extLst>
          </p:cNvPr>
          <p:cNvSpPr>
            <a:spLocks noGrp="1"/>
          </p:cNvSpPr>
          <p:nvPr/>
        </p:nvSpPr>
        <p:spPr>
          <a:xfrm>
            <a:off x="4648200" y="1885950"/>
            <a:ext cx="361950" cy="361950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tep-num-text">
            <a:extLst>
              <a:ext uri="{FF2B5EF4-FFF2-40B4-BE49-F238E27FC236}">
                <a16:creationId xmlns:a16="http://schemas.microsoft.com/office/drawing/2014/main" id="{CA1DD766-81CE-404D-B105-1321F6DC5F68}"/>
              </a:ext>
            </a:extLst>
          </p:cNvPr>
          <p:cNvSpPr>
            <a:spLocks noGrp="1"/>
          </p:cNvSpPr>
          <p:nvPr/>
        </p:nvSpPr>
        <p:spPr>
          <a:xfrm>
            <a:off x="4648200" y="19335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step-head">
            <a:extLst>
              <a:ext uri="{FF2B5EF4-FFF2-40B4-BE49-F238E27FC236}">
                <a16:creationId xmlns:a16="http://schemas.microsoft.com/office/drawing/2014/main" id="{86245516-E767-4D70-AA79-ABCE544A687D}"/>
              </a:ext>
            </a:extLst>
          </p:cNvPr>
          <p:cNvSpPr>
            <a:spLocks noGrp="1"/>
          </p:cNvSpPr>
          <p:nvPr/>
        </p:nvSpPr>
        <p:spPr>
          <a:xfrm>
            <a:off x="5143500" y="186690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Control de rol</a:t>
            </a:r>
          </a:p>
        </p:txBody>
      </p:sp>
      <p:sp>
        <p:nvSpPr>
          <p:cNvPr id="15" name="step-body">
            <a:extLst>
              <a:ext uri="{FF2B5EF4-FFF2-40B4-BE49-F238E27FC236}">
                <a16:creationId xmlns:a16="http://schemas.microsoft.com/office/drawing/2014/main" id="{9AC40A99-F4A3-4281-8075-2E11C13A7845}"/>
              </a:ext>
            </a:extLst>
          </p:cNvPr>
          <p:cNvSpPr>
            <a:spLocks noGrp="1"/>
          </p:cNvSpPr>
          <p:nvPr/>
        </p:nvSpPr>
        <p:spPr>
          <a:xfrm>
            <a:off x="5143500" y="2228850"/>
            <a:ext cx="2362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96273"/>
                </a:solidFill>
              </a:defRPr>
            </a:pPr>
            <a:r>
              <a:rPr sz="1275" b="0" dirty="0" err="1">
                <a:solidFill>
                  <a:srgbClr val="596273"/>
                </a:solidFill>
              </a:rPr>
              <a:t>Administrador</a:t>
            </a:r>
            <a:r>
              <a:rPr sz="1275" b="0" dirty="0">
                <a:solidFill>
                  <a:srgbClr val="596273"/>
                </a:solidFill>
              </a:rPr>
              <a:t> </a:t>
            </a:r>
            <a:r>
              <a:rPr sz="1275" b="0" dirty="0" err="1">
                <a:solidFill>
                  <a:srgbClr val="596273"/>
                </a:solidFill>
              </a:rPr>
              <a:t>ve</a:t>
            </a:r>
            <a:r>
              <a:rPr sz="1275" b="0" dirty="0">
                <a:solidFill>
                  <a:srgbClr val="596273"/>
                </a:solidFill>
              </a:rPr>
              <a:t> </a:t>
            </a:r>
            <a:r>
              <a:rPr sz="1275" b="0" dirty="0" err="1">
                <a:solidFill>
                  <a:srgbClr val="596273"/>
                </a:solidFill>
              </a:rPr>
              <a:t>módulos</a:t>
            </a:r>
            <a:r>
              <a:rPr sz="1275" b="0" dirty="0">
                <a:solidFill>
                  <a:srgbClr val="596273"/>
                </a:solidFill>
              </a:rPr>
              <a:t> </a:t>
            </a:r>
            <a:r>
              <a:rPr sz="1275" b="0" dirty="0" err="1">
                <a:solidFill>
                  <a:srgbClr val="596273"/>
                </a:solidFill>
              </a:rPr>
              <a:t>internos</a:t>
            </a:r>
            <a:r>
              <a:rPr sz="1275" b="0" dirty="0">
                <a:solidFill>
                  <a:srgbClr val="596273"/>
                </a:solidFill>
              </a:rPr>
              <a:t>; </a:t>
            </a:r>
            <a:r>
              <a:rPr sz="1275" b="0" dirty="0" err="1">
                <a:solidFill>
                  <a:srgbClr val="596273"/>
                </a:solidFill>
              </a:rPr>
              <a:t>cliente</a:t>
            </a:r>
            <a:r>
              <a:rPr sz="1275" b="0" dirty="0">
                <a:solidFill>
                  <a:srgbClr val="596273"/>
                </a:solidFill>
              </a:rPr>
              <a:t> </a:t>
            </a:r>
            <a:r>
              <a:rPr sz="1275" b="0" dirty="0" err="1">
                <a:solidFill>
                  <a:srgbClr val="596273"/>
                </a:solidFill>
              </a:rPr>
              <a:t>ve</a:t>
            </a:r>
            <a:r>
              <a:rPr sz="1275" b="0" dirty="0">
                <a:solidFill>
                  <a:srgbClr val="596273"/>
                </a:solidFill>
              </a:rPr>
              <a:t> portal y </a:t>
            </a:r>
            <a:r>
              <a:rPr sz="1275" b="0" dirty="0" err="1">
                <a:solidFill>
                  <a:srgbClr val="596273"/>
                </a:solidFill>
              </a:rPr>
              <a:t>pedidos</a:t>
            </a:r>
            <a:r>
              <a:rPr sz="1275" b="0" dirty="0">
                <a:solidFill>
                  <a:srgbClr val="596273"/>
                </a:solidFill>
              </a:rPr>
              <a:t>.</a:t>
            </a:r>
          </a:p>
        </p:txBody>
      </p:sp>
      <p:sp>
        <p:nvSpPr>
          <p:cNvPr id="16" name="step-box">
            <a:extLst>
              <a:ext uri="{FF2B5EF4-FFF2-40B4-BE49-F238E27FC236}">
                <a16:creationId xmlns:a16="http://schemas.microsoft.com/office/drawing/2014/main" id="{0270E9CF-AEAB-4B6E-8C1D-68FF698D2AB5}"/>
              </a:ext>
            </a:extLst>
          </p:cNvPr>
          <p:cNvSpPr>
            <a:spLocks noGrp="1"/>
          </p:cNvSpPr>
          <p:nvPr/>
        </p:nvSpPr>
        <p:spPr>
          <a:xfrm>
            <a:off x="8401050" y="1695450"/>
            <a:ext cx="3238500" cy="1257300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tep-number">
            <a:extLst>
              <a:ext uri="{FF2B5EF4-FFF2-40B4-BE49-F238E27FC236}">
                <a16:creationId xmlns:a16="http://schemas.microsoft.com/office/drawing/2014/main" id="{98E2D959-CDE8-4070-AAC2-D4FC1F1280A9}"/>
              </a:ext>
            </a:extLst>
          </p:cNvPr>
          <p:cNvSpPr>
            <a:spLocks noGrp="1"/>
          </p:cNvSpPr>
          <p:nvPr/>
        </p:nvSpPr>
        <p:spPr>
          <a:xfrm>
            <a:off x="8572500" y="1885950"/>
            <a:ext cx="361950" cy="361950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step-num-text">
            <a:extLst>
              <a:ext uri="{FF2B5EF4-FFF2-40B4-BE49-F238E27FC236}">
                <a16:creationId xmlns:a16="http://schemas.microsoft.com/office/drawing/2014/main" id="{2AC3C8ED-25DB-48AE-A34F-5DAF165716F9}"/>
              </a:ext>
            </a:extLst>
          </p:cNvPr>
          <p:cNvSpPr>
            <a:spLocks noGrp="1"/>
          </p:cNvSpPr>
          <p:nvPr/>
        </p:nvSpPr>
        <p:spPr>
          <a:xfrm>
            <a:off x="8572500" y="19335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step-head">
            <a:extLst>
              <a:ext uri="{FF2B5EF4-FFF2-40B4-BE49-F238E27FC236}">
                <a16:creationId xmlns:a16="http://schemas.microsoft.com/office/drawing/2014/main" id="{7F1977E7-2CB5-4867-B815-B9A3C770851D}"/>
              </a:ext>
            </a:extLst>
          </p:cNvPr>
          <p:cNvSpPr>
            <a:spLocks noGrp="1"/>
          </p:cNvSpPr>
          <p:nvPr/>
        </p:nvSpPr>
        <p:spPr>
          <a:xfrm>
            <a:off x="9067800" y="186690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Módulos</a:t>
            </a:r>
          </a:p>
        </p:txBody>
      </p:sp>
      <p:sp>
        <p:nvSpPr>
          <p:cNvPr id="20" name="step-body">
            <a:extLst>
              <a:ext uri="{FF2B5EF4-FFF2-40B4-BE49-F238E27FC236}">
                <a16:creationId xmlns:a16="http://schemas.microsoft.com/office/drawing/2014/main" id="{027EC697-51E8-4658-A895-EAD2ADF591B9}"/>
              </a:ext>
            </a:extLst>
          </p:cNvPr>
          <p:cNvSpPr>
            <a:spLocks noGrp="1"/>
          </p:cNvSpPr>
          <p:nvPr/>
        </p:nvSpPr>
        <p:spPr>
          <a:xfrm>
            <a:off x="9067800" y="2228850"/>
            <a:ext cx="2362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96273"/>
                </a:solidFill>
              </a:defRPr>
            </a:pPr>
            <a:r>
              <a:rPr sz="1275" b="0">
                <a:solidFill>
                  <a:srgbClr val="596273"/>
                </a:solidFill>
              </a:rPr>
              <a:t>Cada módulo muestra tablas, formularios y acciones.</a:t>
            </a:r>
          </a:p>
        </p:txBody>
      </p:sp>
      <p:sp>
        <p:nvSpPr>
          <p:cNvPr id="21" name="step-box">
            <a:extLst>
              <a:ext uri="{FF2B5EF4-FFF2-40B4-BE49-F238E27FC236}">
                <a16:creationId xmlns:a16="http://schemas.microsoft.com/office/drawing/2014/main" id="{78691347-8C68-4B64-B6A4-7D1D442813F0}"/>
              </a:ext>
            </a:extLst>
          </p:cNvPr>
          <p:cNvSpPr>
            <a:spLocks noGrp="1"/>
          </p:cNvSpPr>
          <p:nvPr/>
        </p:nvSpPr>
        <p:spPr>
          <a:xfrm>
            <a:off x="2514600" y="3676650"/>
            <a:ext cx="3238500" cy="1257300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step-number">
            <a:extLst>
              <a:ext uri="{FF2B5EF4-FFF2-40B4-BE49-F238E27FC236}">
                <a16:creationId xmlns:a16="http://schemas.microsoft.com/office/drawing/2014/main" id="{ABC48B4A-B969-4727-B473-C5E489D23D76}"/>
              </a:ext>
            </a:extLst>
          </p:cNvPr>
          <p:cNvSpPr>
            <a:spLocks noGrp="1"/>
          </p:cNvSpPr>
          <p:nvPr/>
        </p:nvSpPr>
        <p:spPr>
          <a:xfrm>
            <a:off x="2686050" y="3867150"/>
            <a:ext cx="361950" cy="361950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tep-num-text">
            <a:extLst>
              <a:ext uri="{FF2B5EF4-FFF2-40B4-BE49-F238E27FC236}">
                <a16:creationId xmlns:a16="http://schemas.microsoft.com/office/drawing/2014/main" id="{B3702EBB-6E3A-4066-A8F8-7F6F2A3E3949}"/>
              </a:ext>
            </a:extLst>
          </p:cNvPr>
          <p:cNvSpPr>
            <a:spLocks noGrp="1"/>
          </p:cNvSpPr>
          <p:nvPr/>
        </p:nvSpPr>
        <p:spPr>
          <a:xfrm>
            <a:off x="2686050" y="39147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step-head">
            <a:extLst>
              <a:ext uri="{FF2B5EF4-FFF2-40B4-BE49-F238E27FC236}">
                <a16:creationId xmlns:a16="http://schemas.microsoft.com/office/drawing/2014/main" id="{E7843973-8A78-4283-A271-4B29DB1A963A}"/>
              </a:ext>
            </a:extLst>
          </p:cNvPr>
          <p:cNvSpPr>
            <a:spLocks noGrp="1"/>
          </p:cNvSpPr>
          <p:nvPr/>
        </p:nvSpPr>
        <p:spPr>
          <a:xfrm>
            <a:off x="3181350" y="384810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Persistencia</a:t>
            </a:r>
          </a:p>
        </p:txBody>
      </p:sp>
      <p:sp>
        <p:nvSpPr>
          <p:cNvPr id="25" name="step-body">
            <a:extLst>
              <a:ext uri="{FF2B5EF4-FFF2-40B4-BE49-F238E27FC236}">
                <a16:creationId xmlns:a16="http://schemas.microsoft.com/office/drawing/2014/main" id="{41278A66-F665-43FD-BF7C-D99A2608C727}"/>
              </a:ext>
            </a:extLst>
          </p:cNvPr>
          <p:cNvSpPr>
            <a:spLocks noGrp="1"/>
          </p:cNvSpPr>
          <p:nvPr/>
        </p:nvSpPr>
        <p:spPr>
          <a:xfrm>
            <a:off x="3181350" y="4210050"/>
            <a:ext cx="2362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96273"/>
                </a:solidFill>
              </a:defRPr>
            </a:pPr>
            <a:r>
              <a:rPr sz="1275" b="0">
                <a:solidFill>
                  <a:srgbClr val="596273"/>
                </a:solidFill>
              </a:rPr>
              <a:t>LocalStorage guarda usuarios, sesión y registros.</a:t>
            </a:r>
          </a:p>
        </p:txBody>
      </p:sp>
      <p:sp>
        <p:nvSpPr>
          <p:cNvPr id="26" name="step-box">
            <a:extLst>
              <a:ext uri="{FF2B5EF4-FFF2-40B4-BE49-F238E27FC236}">
                <a16:creationId xmlns:a16="http://schemas.microsoft.com/office/drawing/2014/main" id="{A3390191-1407-41C3-862B-1C8DF6F6D3F6}"/>
              </a:ext>
            </a:extLst>
          </p:cNvPr>
          <p:cNvSpPr>
            <a:spLocks noGrp="1"/>
          </p:cNvSpPr>
          <p:nvPr/>
        </p:nvSpPr>
        <p:spPr>
          <a:xfrm>
            <a:off x="6438900" y="3676650"/>
            <a:ext cx="3238500" cy="1257300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tep-number">
            <a:extLst>
              <a:ext uri="{FF2B5EF4-FFF2-40B4-BE49-F238E27FC236}">
                <a16:creationId xmlns:a16="http://schemas.microsoft.com/office/drawing/2014/main" id="{02E7C803-6D05-4447-8BC5-E5887228DD68}"/>
              </a:ext>
            </a:extLst>
          </p:cNvPr>
          <p:cNvSpPr>
            <a:spLocks noGrp="1"/>
          </p:cNvSpPr>
          <p:nvPr/>
        </p:nvSpPr>
        <p:spPr>
          <a:xfrm>
            <a:off x="6610350" y="3867150"/>
            <a:ext cx="361950" cy="361950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step-num-text">
            <a:extLst>
              <a:ext uri="{FF2B5EF4-FFF2-40B4-BE49-F238E27FC236}">
                <a16:creationId xmlns:a16="http://schemas.microsoft.com/office/drawing/2014/main" id="{BEDFFA33-466B-4946-A9B5-338F1E9D7F66}"/>
              </a:ext>
            </a:extLst>
          </p:cNvPr>
          <p:cNvSpPr>
            <a:spLocks noGrp="1"/>
          </p:cNvSpPr>
          <p:nvPr/>
        </p:nvSpPr>
        <p:spPr>
          <a:xfrm>
            <a:off x="6610350" y="39147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step-head">
            <a:extLst>
              <a:ext uri="{FF2B5EF4-FFF2-40B4-BE49-F238E27FC236}">
                <a16:creationId xmlns:a16="http://schemas.microsoft.com/office/drawing/2014/main" id="{A661BE02-2C0E-478E-83E7-DEFF17BA745A}"/>
              </a:ext>
            </a:extLst>
          </p:cNvPr>
          <p:cNvSpPr>
            <a:spLocks noGrp="1"/>
          </p:cNvSpPr>
          <p:nvPr/>
        </p:nvSpPr>
        <p:spPr>
          <a:xfrm>
            <a:off x="7105650" y="384810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Salida</a:t>
            </a:r>
          </a:p>
        </p:txBody>
      </p:sp>
      <p:sp>
        <p:nvSpPr>
          <p:cNvPr id="30" name="step-body">
            <a:extLst>
              <a:ext uri="{FF2B5EF4-FFF2-40B4-BE49-F238E27FC236}">
                <a16:creationId xmlns:a16="http://schemas.microsoft.com/office/drawing/2014/main" id="{05369954-5B4D-4B62-981B-0A88461E27AD}"/>
              </a:ext>
            </a:extLst>
          </p:cNvPr>
          <p:cNvSpPr>
            <a:spLocks noGrp="1"/>
          </p:cNvSpPr>
          <p:nvPr/>
        </p:nvSpPr>
        <p:spPr>
          <a:xfrm>
            <a:off x="7105650" y="4210050"/>
            <a:ext cx="2362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96273"/>
                </a:solidFill>
              </a:defRPr>
            </a:pPr>
            <a:r>
              <a:rPr sz="1275" b="0">
                <a:solidFill>
                  <a:srgbClr val="596273"/>
                </a:solidFill>
              </a:rPr>
              <a:t>Reportes, comprobantes e impresión/PDF.</a:t>
            </a:r>
          </a:p>
        </p:txBody>
      </p:sp>
      <p:sp>
        <p:nvSpPr>
          <p:cNvPr id="31" name="flow-line">
            <a:extLst>
              <a:ext uri="{FF2B5EF4-FFF2-40B4-BE49-F238E27FC236}">
                <a16:creationId xmlns:a16="http://schemas.microsoft.com/office/drawing/2014/main" id="{708E1D43-B065-4490-9A6B-9B99E13E8A28}"/>
              </a:ext>
            </a:extLst>
          </p:cNvPr>
          <p:cNvSpPr>
            <a:spLocks noGrp="1"/>
          </p:cNvSpPr>
          <p:nvPr/>
        </p:nvSpPr>
        <p:spPr>
          <a:xfrm>
            <a:off x="4000500" y="2914650"/>
            <a:ext cx="4171950" cy="28575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flow-line2">
            <a:extLst>
              <a:ext uri="{FF2B5EF4-FFF2-40B4-BE49-F238E27FC236}">
                <a16:creationId xmlns:a16="http://schemas.microsoft.com/office/drawing/2014/main" id="{E0D39133-29CC-4E33-ADD1-91937E96842A}"/>
              </a:ext>
            </a:extLst>
          </p:cNvPr>
          <p:cNvSpPr>
            <a:spLocks noGrp="1"/>
          </p:cNvSpPr>
          <p:nvPr/>
        </p:nvSpPr>
        <p:spPr>
          <a:xfrm>
            <a:off x="5953125" y="3257550"/>
            <a:ext cx="28575" cy="400050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30204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37D69BAB-5062-4D72-A51B-566FD361E88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Rol administrador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BD8DC9C-BF4F-4670-9BD3-4CCAA0DE2CF5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96273"/>
                </a:solidFill>
              </a:defRPr>
            </a:pPr>
            <a:r>
              <a:rPr sz="1500" b="0">
                <a:solidFill>
                  <a:srgbClr val="596273"/>
                </a:solidFill>
              </a:rPr>
              <a:t>Vista interna para controlar operaciones y registros del negocio.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6B77955E-87ED-484D-90C5-3683BEE4D192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876300" cy="47625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footer-brand">
            <a:extLst>
              <a:ext uri="{FF2B5EF4-FFF2-40B4-BE49-F238E27FC236}">
                <a16:creationId xmlns:a16="http://schemas.microsoft.com/office/drawing/2014/main" id="{B28F07B1-E2AD-4273-B06D-B86D34DA1847}"/>
              </a:ext>
            </a:extLst>
          </p:cNvPr>
          <p:cNvSpPr>
            <a:spLocks noGrp="1"/>
          </p:cNvSpPr>
          <p:nvPr/>
        </p:nvSpPr>
        <p:spPr>
          <a:xfrm>
            <a:off x="400050" y="63341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SIG-GLORIA</a:t>
            </a:r>
          </a:p>
        </p:txBody>
      </p:sp>
      <p:sp>
        <p:nvSpPr>
          <p:cNvPr id="5" name="footer-num">
            <a:extLst>
              <a:ext uri="{FF2B5EF4-FFF2-40B4-BE49-F238E27FC236}">
                <a16:creationId xmlns:a16="http://schemas.microsoft.com/office/drawing/2014/main" id="{01F7CCB2-28DF-49F3-877F-5C5897E4635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06</a:t>
            </a:r>
          </a:p>
        </p:txBody>
      </p:sp>
      <p:sp>
        <p:nvSpPr>
          <p:cNvPr id="6" name="module-card">
            <a:extLst>
              <a:ext uri="{FF2B5EF4-FFF2-40B4-BE49-F238E27FC236}">
                <a16:creationId xmlns:a16="http://schemas.microsoft.com/office/drawing/2014/main" id="{29E1E5DD-11D5-4CFC-8AB6-47BF44479153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2476500" cy="1200150"/>
          </a:xfrm>
          <a:prstGeom prst="roundRect">
            <a:avLst>
              <a:gd name="adj" fmla="val 6349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module-head">
            <a:extLst>
              <a:ext uri="{FF2B5EF4-FFF2-40B4-BE49-F238E27FC236}">
                <a16:creationId xmlns:a16="http://schemas.microsoft.com/office/drawing/2014/main" id="{9D4FFCE3-E813-46E1-93A9-E76706CE323E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D61023"/>
                </a:solidFill>
              </a:defRPr>
            </a:pPr>
            <a:r>
              <a:rPr sz="1800" b="1">
                <a:solidFill>
                  <a:srgbClr val="D61023"/>
                </a:solidFill>
              </a:rPr>
              <a:t>Dashboard</a:t>
            </a:r>
          </a:p>
        </p:txBody>
      </p:sp>
      <p:sp>
        <p:nvSpPr>
          <p:cNvPr id="8" name="module-body">
            <a:extLst>
              <a:ext uri="{FF2B5EF4-FFF2-40B4-BE49-F238E27FC236}">
                <a16:creationId xmlns:a16="http://schemas.microsoft.com/office/drawing/2014/main" id="{AE3E4BC5-3B07-4886-A01D-3EE69A97ACEA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</a:defRPr>
            </a:pPr>
            <a:r>
              <a:rPr sz="1350" b="0">
                <a:solidFill>
                  <a:srgbClr val="596273"/>
                </a:solidFill>
              </a:rPr>
              <a:t>KPIs y actividad reciente</a:t>
            </a:r>
          </a:p>
        </p:txBody>
      </p:sp>
      <p:sp>
        <p:nvSpPr>
          <p:cNvPr id="9" name="module-card">
            <a:extLst>
              <a:ext uri="{FF2B5EF4-FFF2-40B4-BE49-F238E27FC236}">
                <a16:creationId xmlns:a16="http://schemas.microsoft.com/office/drawing/2014/main" id="{7284213C-5A91-48FA-93E1-A67A0049CB9C}"/>
              </a:ext>
            </a:extLst>
          </p:cNvPr>
          <p:cNvSpPr>
            <a:spLocks noGrp="1"/>
          </p:cNvSpPr>
          <p:nvPr/>
        </p:nvSpPr>
        <p:spPr>
          <a:xfrm>
            <a:off x="3257550" y="1676400"/>
            <a:ext cx="2476500" cy="1200150"/>
          </a:xfrm>
          <a:prstGeom prst="roundRect">
            <a:avLst>
              <a:gd name="adj" fmla="val 6349"/>
            </a:avLst>
          </a:prstGeom>
          <a:solidFill>
            <a:srgbClr val="FAFAFA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module-head">
            <a:extLst>
              <a:ext uri="{FF2B5EF4-FFF2-40B4-BE49-F238E27FC236}">
                <a16:creationId xmlns:a16="http://schemas.microsoft.com/office/drawing/2014/main" id="{29D0DE28-4DE1-4E91-A3C3-CB72FE09A162}"/>
              </a:ext>
            </a:extLst>
          </p:cNvPr>
          <p:cNvSpPr>
            <a:spLocks noGrp="1"/>
          </p:cNvSpPr>
          <p:nvPr/>
        </p:nvSpPr>
        <p:spPr>
          <a:xfrm>
            <a:off x="3467100" y="18859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Productores</a:t>
            </a:r>
          </a:p>
        </p:txBody>
      </p:sp>
      <p:sp>
        <p:nvSpPr>
          <p:cNvPr id="11" name="module-body">
            <a:extLst>
              <a:ext uri="{FF2B5EF4-FFF2-40B4-BE49-F238E27FC236}">
                <a16:creationId xmlns:a16="http://schemas.microsoft.com/office/drawing/2014/main" id="{DEF1D781-99F7-401B-80C9-DC0C0256D73D}"/>
              </a:ext>
            </a:extLst>
          </p:cNvPr>
          <p:cNvSpPr>
            <a:spLocks noGrp="1"/>
          </p:cNvSpPr>
          <p:nvPr/>
        </p:nvSpPr>
        <p:spPr>
          <a:xfrm>
            <a:off x="3467100" y="228600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</a:defRPr>
            </a:pPr>
            <a:r>
              <a:rPr sz="1350" b="0">
                <a:solidFill>
                  <a:srgbClr val="596273"/>
                </a:solidFill>
              </a:rPr>
              <a:t>Altas, edición y consulta</a:t>
            </a:r>
          </a:p>
        </p:txBody>
      </p:sp>
      <p:sp>
        <p:nvSpPr>
          <p:cNvPr id="12" name="module-card">
            <a:extLst>
              <a:ext uri="{FF2B5EF4-FFF2-40B4-BE49-F238E27FC236}">
                <a16:creationId xmlns:a16="http://schemas.microsoft.com/office/drawing/2014/main" id="{89414C60-7F67-45DD-9A00-D9AC07DDAAD5}"/>
              </a:ext>
            </a:extLst>
          </p:cNvPr>
          <p:cNvSpPr>
            <a:spLocks noGrp="1"/>
          </p:cNvSpPr>
          <p:nvPr/>
        </p:nvSpPr>
        <p:spPr>
          <a:xfrm>
            <a:off x="6115050" y="1676400"/>
            <a:ext cx="2476500" cy="1200150"/>
          </a:xfrm>
          <a:prstGeom prst="roundRect">
            <a:avLst>
              <a:gd name="adj" fmla="val 6349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module-head">
            <a:extLst>
              <a:ext uri="{FF2B5EF4-FFF2-40B4-BE49-F238E27FC236}">
                <a16:creationId xmlns:a16="http://schemas.microsoft.com/office/drawing/2014/main" id="{49693931-7E96-4BAE-9196-E37AB59603B7}"/>
              </a:ext>
            </a:extLst>
          </p:cNvPr>
          <p:cNvSpPr>
            <a:spLocks noGrp="1"/>
          </p:cNvSpPr>
          <p:nvPr/>
        </p:nvSpPr>
        <p:spPr>
          <a:xfrm>
            <a:off x="6324600" y="18859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Calidad</a:t>
            </a:r>
          </a:p>
        </p:txBody>
      </p:sp>
      <p:sp>
        <p:nvSpPr>
          <p:cNvPr id="14" name="module-body">
            <a:extLst>
              <a:ext uri="{FF2B5EF4-FFF2-40B4-BE49-F238E27FC236}">
                <a16:creationId xmlns:a16="http://schemas.microsoft.com/office/drawing/2014/main" id="{55B5F2ED-6143-4EFE-A96F-5749B94A5AA6}"/>
              </a:ext>
            </a:extLst>
          </p:cNvPr>
          <p:cNvSpPr>
            <a:spLocks noGrp="1"/>
          </p:cNvSpPr>
          <p:nvPr/>
        </p:nvSpPr>
        <p:spPr>
          <a:xfrm>
            <a:off x="6324600" y="228600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</a:defRPr>
            </a:pPr>
            <a:r>
              <a:rPr sz="1350" b="0">
                <a:solidFill>
                  <a:srgbClr val="596273"/>
                </a:solidFill>
              </a:rPr>
              <a:t>Controles por lote</a:t>
            </a:r>
          </a:p>
        </p:txBody>
      </p:sp>
      <p:sp>
        <p:nvSpPr>
          <p:cNvPr id="15" name="module-card">
            <a:extLst>
              <a:ext uri="{FF2B5EF4-FFF2-40B4-BE49-F238E27FC236}">
                <a16:creationId xmlns:a16="http://schemas.microsoft.com/office/drawing/2014/main" id="{AE3BC93F-DB17-4F25-8E8C-11A7117C1647}"/>
              </a:ext>
            </a:extLst>
          </p:cNvPr>
          <p:cNvSpPr>
            <a:spLocks noGrp="1"/>
          </p:cNvSpPr>
          <p:nvPr/>
        </p:nvSpPr>
        <p:spPr>
          <a:xfrm>
            <a:off x="8972550" y="1676400"/>
            <a:ext cx="2476500" cy="1200150"/>
          </a:xfrm>
          <a:prstGeom prst="roundRect">
            <a:avLst>
              <a:gd name="adj" fmla="val 6349"/>
            </a:avLst>
          </a:prstGeom>
          <a:solidFill>
            <a:srgbClr val="FAFAFA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module-head">
            <a:extLst>
              <a:ext uri="{FF2B5EF4-FFF2-40B4-BE49-F238E27FC236}">
                <a16:creationId xmlns:a16="http://schemas.microsoft.com/office/drawing/2014/main" id="{2F2E6711-D7A6-474B-8B09-853ECF35A953}"/>
              </a:ext>
            </a:extLst>
          </p:cNvPr>
          <p:cNvSpPr>
            <a:spLocks noGrp="1"/>
          </p:cNvSpPr>
          <p:nvPr/>
        </p:nvSpPr>
        <p:spPr>
          <a:xfrm>
            <a:off x="9182100" y="18859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Producción</a:t>
            </a:r>
          </a:p>
        </p:txBody>
      </p:sp>
      <p:sp>
        <p:nvSpPr>
          <p:cNvPr id="17" name="module-body">
            <a:extLst>
              <a:ext uri="{FF2B5EF4-FFF2-40B4-BE49-F238E27FC236}">
                <a16:creationId xmlns:a16="http://schemas.microsoft.com/office/drawing/2014/main" id="{84494384-D9CB-4C70-844E-218D6603FCC7}"/>
              </a:ext>
            </a:extLst>
          </p:cNvPr>
          <p:cNvSpPr>
            <a:spLocks noGrp="1"/>
          </p:cNvSpPr>
          <p:nvPr/>
        </p:nvSpPr>
        <p:spPr>
          <a:xfrm>
            <a:off x="9182100" y="228600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</a:defRPr>
            </a:pPr>
            <a:r>
              <a:rPr sz="1350" b="0">
                <a:solidFill>
                  <a:srgbClr val="596273"/>
                </a:solidFill>
              </a:rPr>
              <a:t>Lotes, programación y BOM</a:t>
            </a:r>
          </a:p>
        </p:txBody>
      </p:sp>
      <p:sp>
        <p:nvSpPr>
          <p:cNvPr id="18" name="module-card">
            <a:extLst>
              <a:ext uri="{FF2B5EF4-FFF2-40B4-BE49-F238E27FC236}">
                <a16:creationId xmlns:a16="http://schemas.microsoft.com/office/drawing/2014/main" id="{998BBCD3-A624-4955-8760-9218880AA87C}"/>
              </a:ext>
            </a:extLst>
          </p:cNvPr>
          <p:cNvSpPr>
            <a:spLocks noGrp="1"/>
          </p:cNvSpPr>
          <p:nvPr/>
        </p:nvSpPr>
        <p:spPr>
          <a:xfrm>
            <a:off x="400050" y="3371850"/>
            <a:ext cx="2476500" cy="1200150"/>
          </a:xfrm>
          <a:prstGeom prst="roundRect">
            <a:avLst>
              <a:gd name="adj" fmla="val 6349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module-head">
            <a:extLst>
              <a:ext uri="{FF2B5EF4-FFF2-40B4-BE49-F238E27FC236}">
                <a16:creationId xmlns:a16="http://schemas.microsoft.com/office/drawing/2014/main" id="{D02B0699-CAB7-453B-B650-F411C03A051D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Inventario</a:t>
            </a:r>
          </a:p>
        </p:txBody>
      </p:sp>
      <p:sp>
        <p:nvSpPr>
          <p:cNvPr id="20" name="module-body">
            <a:extLst>
              <a:ext uri="{FF2B5EF4-FFF2-40B4-BE49-F238E27FC236}">
                <a16:creationId xmlns:a16="http://schemas.microsoft.com/office/drawing/2014/main" id="{17B3CEF5-97E6-47E1-982C-C9664788DBCA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</a:defRPr>
            </a:pPr>
            <a:r>
              <a:rPr sz="1350" b="0">
                <a:solidFill>
                  <a:srgbClr val="596273"/>
                </a:solidFill>
              </a:rPr>
              <a:t>Stock, FEFO y movimientos</a:t>
            </a:r>
          </a:p>
        </p:txBody>
      </p:sp>
      <p:sp>
        <p:nvSpPr>
          <p:cNvPr id="21" name="module-card">
            <a:extLst>
              <a:ext uri="{FF2B5EF4-FFF2-40B4-BE49-F238E27FC236}">
                <a16:creationId xmlns:a16="http://schemas.microsoft.com/office/drawing/2014/main" id="{10AE3529-328B-4F5D-8DB0-FBA4EA8B198B}"/>
              </a:ext>
            </a:extLst>
          </p:cNvPr>
          <p:cNvSpPr>
            <a:spLocks noGrp="1"/>
          </p:cNvSpPr>
          <p:nvPr/>
        </p:nvSpPr>
        <p:spPr>
          <a:xfrm>
            <a:off x="3257550" y="3371850"/>
            <a:ext cx="2476500" cy="1200150"/>
          </a:xfrm>
          <a:prstGeom prst="roundRect">
            <a:avLst>
              <a:gd name="adj" fmla="val 6349"/>
            </a:avLst>
          </a:prstGeom>
          <a:solidFill>
            <a:srgbClr val="FAFAFA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module-head">
            <a:extLst>
              <a:ext uri="{FF2B5EF4-FFF2-40B4-BE49-F238E27FC236}">
                <a16:creationId xmlns:a16="http://schemas.microsoft.com/office/drawing/2014/main" id="{29D937A3-3309-41FD-BE6B-8F38F38C1A49}"/>
              </a:ext>
            </a:extLst>
          </p:cNvPr>
          <p:cNvSpPr>
            <a:spLocks noGrp="1"/>
          </p:cNvSpPr>
          <p:nvPr/>
        </p:nvSpPr>
        <p:spPr>
          <a:xfrm>
            <a:off x="3467100" y="35814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Ventas</a:t>
            </a:r>
          </a:p>
        </p:txBody>
      </p:sp>
      <p:sp>
        <p:nvSpPr>
          <p:cNvPr id="23" name="module-body">
            <a:extLst>
              <a:ext uri="{FF2B5EF4-FFF2-40B4-BE49-F238E27FC236}">
                <a16:creationId xmlns:a16="http://schemas.microsoft.com/office/drawing/2014/main" id="{1583F128-7C6D-4710-9423-7DCDF038492F}"/>
              </a:ext>
            </a:extLst>
          </p:cNvPr>
          <p:cNvSpPr>
            <a:spLocks noGrp="1"/>
          </p:cNvSpPr>
          <p:nvPr/>
        </p:nvSpPr>
        <p:spPr>
          <a:xfrm>
            <a:off x="3467100" y="398145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</a:defRPr>
            </a:pPr>
            <a:r>
              <a:rPr sz="1350" b="0">
                <a:solidFill>
                  <a:srgbClr val="596273"/>
                </a:solidFill>
              </a:rPr>
              <a:t>Pedidos y comprobantes</a:t>
            </a:r>
          </a:p>
        </p:txBody>
      </p:sp>
      <p:sp>
        <p:nvSpPr>
          <p:cNvPr id="24" name="module-card">
            <a:extLst>
              <a:ext uri="{FF2B5EF4-FFF2-40B4-BE49-F238E27FC236}">
                <a16:creationId xmlns:a16="http://schemas.microsoft.com/office/drawing/2014/main" id="{EC8B4808-A6A0-4636-B308-5A52CDD22FB0}"/>
              </a:ext>
            </a:extLst>
          </p:cNvPr>
          <p:cNvSpPr>
            <a:spLocks noGrp="1"/>
          </p:cNvSpPr>
          <p:nvPr/>
        </p:nvSpPr>
        <p:spPr>
          <a:xfrm>
            <a:off x="6115050" y="3371850"/>
            <a:ext cx="2476500" cy="1200150"/>
          </a:xfrm>
          <a:prstGeom prst="roundRect">
            <a:avLst>
              <a:gd name="adj" fmla="val 6349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module-head">
            <a:extLst>
              <a:ext uri="{FF2B5EF4-FFF2-40B4-BE49-F238E27FC236}">
                <a16:creationId xmlns:a16="http://schemas.microsoft.com/office/drawing/2014/main" id="{4C73FFD2-29F1-4EB9-B7B7-8E3A1C2E130C}"/>
              </a:ext>
            </a:extLst>
          </p:cNvPr>
          <p:cNvSpPr>
            <a:spLocks noGrp="1"/>
          </p:cNvSpPr>
          <p:nvPr/>
        </p:nvSpPr>
        <p:spPr>
          <a:xfrm>
            <a:off x="6324600" y="35814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Soporte</a:t>
            </a:r>
          </a:p>
        </p:txBody>
      </p:sp>
      <p:sp>
        <p:nvSpPr>
          <p:cNvPr id="26" name="module-body">
            <a:extLst>
              <a:ext uri="{FF2B5EF4-FFF2-40B4-BE49-F238E27FC236}">
                <a16:creationId xmlns:a16="http://schemas.microsoft.com/office/drawing/2014/main" id="{9A3F02D3-0B31-4538-8DE6-73B09DD98007}"/>
              </a:ext>
            </a:extLst>
          </p:cNvPr>
          <p:cNvSpPr>
            <a:spLocks noGrp="1"/>
          </p:cNvSpPr>
          <p:nvPr/>
        </p:nvSpPr>
        <p:spPr>
          <a:xfrm>
            <a:off x="6324600" y="398145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</a:defRPr>
            </a:pPr>
            <a:r>
              <a:rPr sz="1350" b="0">
                <a:solidFill>
                  <a:srgbClr val="596273"/>
                </a:solidFill>
              </a:rPr>
              <a:t>Tickets y atención</a:t>
            </a:r>
          </a:p>
        </p:txBody>
      </p:sp>
      <p:sp>
        <p:nvSpPr>
          <p:cNvPr id="27" name="module-card">
            <a:extLst>
              <a:ext uri="{FF2B5EF4-FFF2-40B4-BE49-F238E27FC236}">
                <a16:creationId xmlns:a16="http://schemas.microsoft.com/office/drawing/2014/main" id="{B2FAA339-7DB3-4389-B4FD-019A75EFC463}"/>
              </a:ext>
            </a:extLst>
          </p:cNvPr>
          <p:cNvSpPr>
            <a:spLocks noGrp="1"/>
          </p:cNvSpPr>
          <p:nvPr/>
        </p:nvSpPr>
        <p:spPr>
          <a:xfrm>
            <a:off x="8972550" y="3371850"/>
            <a:ext cx="2476500" cy="1200150"/>
          </a:xfrm>
          <a:prstGeom prst="roundRect">
            <a:avLst>
              <a:gd name="adj" fmla="val 6349"/>
            </a:avLst>
          </a:prstGeom>
          <a:solidFill>
            <a:srgbClr val="FAFAFA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module-head">
            <a:extLst>
              <a:ext uri="{FF2B5EF4-FFF2-40B4-BE49-F238E27FC236}">
                <a16:creationId xmlns:a16="http://schemas.microsoft.com/office/drawing/2014/main" id="{39652E63-E2B3-4C69-83A4-FBE54F6C030C}"/>
              </a:ext>
            </a:extLst>
          </p:cNvPr>
          <p:cNvSpPr>
            <a:spLocks noGrp="1"/>
          </p:cNvSpPr>
          <p:nvPr/>
        </p:nvSpPr>
        <p:spPr>
          <a:xfrm>
            <a:off x="9182100" y="35814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Reportes</a:t>
            </a:r>
          </a:p>
        </p:txBody>
      </p:sp>
      <p:sp>
        <p:nvSpPr>
          <p:cNvPr id="29" name="module-body">
            <a:extLst>
              <a:ext uri="{FF2B5EF4-FFF2-40B4-BE49-F238E27FC236}">
                <a16:creationId xmlns:a16="http://schemas.microsoft.com/office/drawing/2014/main" id="{633A88DC-9912-4BD9-9234-EC9847D8BE72}"/>
              </a:ext>
            </a:extLst>
          </p:cNvPr>
          <p:cNvSpPr>
            <a:spLocks noGrp="1"/>
          </p:cNvSpPr>
          <p:nvPr/>
        </p:nvSpPr>
        <p:spPr>
          <a:xfrm>
            <a:off x="9182100" y="398145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96273"/>
                </a:solidFill>
              </a:defRPr>
            </a:pPr>
            <a:r>
              <a:rPr sz="1350" b="0">
                <a:solidFill>
                  <a:srgbClr val="596273"/>
                </a:solidFill>
              </a:rPr>
              <a:t>Resumen operativo</a:t>
            </a:r>
          </a:p>
        </p:txBody>
      </p:sp>
      <p:sp>
        <p:nvSpPr>
          <p:cNvPr id="30" name="key-msg">
            <a:extLst>
              <a:ext uri="{FF2B5EF4-FFF2-40B4-BE49-F238E27FC236}">
                <a16:creationId xmlns:a16="http://schemas.microsoft.com/office/drawing/2014/main" id="{0CBF6991-CF84-4EA3-A60E-792F17AF9AFB}"/>
              </a:ext>
            </a:extLst>
          </p:cNvPr>
          <p:cNvSpPr>
            <a:spLocks noGrp="1"/>
          </p:cNvSpPr>
          <p:nvPr/>
        </p:nvSpPr>
        <p:spPr>
          <a:xfrm>
            <a:off x="400050" y="531495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D61023"/>
                </a:solidFill>
              </a:defRPr>
            </a:pPr>
            <a:r>
              <a:rPr sz="1800" b="1">
                <a:solidFill>
                  <a:srgbClr val="D61023"/>
                </a:solidFill>
              </a:rPr>
              <a:t>Mensaje clave: el administrador demuestra el control integral del sistema.</a:t>
            </a:r>
          </a:p>
        </p:txBody>
      </p:sp>
    </p:spTree>
    <p:extLst>
      <p:ext uri="{BB962C8B-B14F-4D97-AF65-F5344CB8AC3E}">
        <p14:creationId xmlns:p14="http://schemas.microsoft.com/office/powerpoint/2010/main" val="677444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-title">
            <a:extLst>
              <a:ext uri="{FF2B5EF4-FFF2-40B4-BE49-F238E27FC236}">
                <a16:creationId xmlns:a16="http://schemas.microsoft.com/office/drawing/2014/main" id="{E3907ED0-BF7C-4E05-BA01-A8FE0667ED3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Rol cliente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21594AB-0575-4932-A9CE-51885B61A6C8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96273"/>
                </a:solidFill>
              </a:defRPr>
            </a:pPr>
            <a:r>
              <a:rPr sz="1500" b="0">
                <a:solidFill>
                  <a:srgbClr val="596273"/>
                </a:solidFill>
              </a:rPr>
              <a:t>El portal está pensado para consultar y solicitar pedidos sin ver módulos internos.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97C4D651-F13C-457D-BEE1-AB11ED6B4244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876300" cy="47625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footer-brand">
            <a:extLst>
              <a:ext uri="{FF2B5EF4-FFF2-40B4-BE49-F238E27FC236}">
                <a16:creationId xmlns:a16="http://schemas.microsoft.com/office/drawing/2014/main" id="{E3925930-DDCC-4F4A-A9BA-F641E205DD8E}"/>
              </a:ext>
            </a:extLst>
          </p:cNvPr>
          <p:cNvSpPr>
            <a:spLocks noGrp="1"/>
          </p:cNvSpPr>
          <p:nvPr/>
        </p:nvSpPr>
        <p:spPr>
          <a:xfrm>
            <a:off x="400050" y="63341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SIG-GLORIA</a:t>
            </a:r>
          </a:p>
        </p:txBody>
      </p:sp>
      <p:sp>
        <p:nvSpPr>
          <p:cNvPr id="5" name="footer-num">
            <a:extLst>
              <a:ext uri="{FF2B5EF4-FFF2-40B4-BE49-F238E27FC236}">
                <a16:creationId xmlns:a16="http://schemas.microsoft.com/office/drawing/2014/main" id="{4AACD9A1-CD52-40D1-AC8F-58F62A5AAE8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07</a:t>
            </a:r>
          </a:p>
        </p:txBody>
      </p:sp>
      <p:sp>
        <p:nvSpPr>
          <p:cNvPr id="6" name="step-box">
            <a:extLst>
              <a:ext uri="{FF2B5EF4-FFF2-40B4-BE49-F238E27FC236}">
                <a16:creationId xmlns:a16="http://schemas.microsoft.com/office/drawing/2014/main" id="{1808E70C-CEE3-45BE-BA40-E119D245520D}"/>
              </a:ext>
            </a:extLst>
          </p:cNvPr>
          <p:cNvSpPr>
            <a:spLocks noGrp="1"/>
          </p:cNvSpPr>
          <p:nvPr/>
        </p:nvSpPr>
        <p:spPr>
          <a:xfrm>
            <a:off x="647700" y="1809749"/>
            <a:ext cx="2381250" cy="1543049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tep-number">
            <a:extLst>
              <a:ext uri="{FF2B5EF4-FFF2-40B4-BE49-F238E27FC236}">
                <a16:creationId xmlns:a16="http://schemas.microsoft.com/office/drawing/2014/main" id="{C83B6EAA-0FE4-4F78-9AD6-46E4322F848A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361950" cy="361950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step-num-text">
            <a:extLst>
              <a:ext uri="{FF2B5EF4-FFF2-40B4-BE49-F238E27FC236}">
                <a16:creationId xmlns:a16="http://schemas.microsoft.com/office/drawing/2014/main" id="{28BBE52E-9DBF-4470-A4B5-9F8BC4C2C249}"/>
              </a:ext>
            </a:extLst>
          </p:cNvPr>
          <p:cNvSpPr>
            <a:spLocks noGrp="1"/>
          </p:cNvSpPr>
          <p:nvPr/>
        </p:nvSpPr>
        <p:spPr>
          <a:xfrm>
            <a:off x="819150" y="20478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step-head">
            <a:extLst>
              <a:ext uri="{FF2B5EF4-FFF2-40B4-BE49-F238E27FC236}">
                <a16:creationId xmlns:a16="http://schemas.microsoft.com/office/drawing/2014/main" id="{A3D69B3C-CA4E-43A9-98E5-D509E06AFBB9}"/>
              </a:ext>
            </a:extLst>
          </p:cNvPr>
          <p:cNvSpPr>
            <a:spLocks noGrp="1"/>
          </p:cNvSpPr>
          <p:nvPr/>
        </p:nvSpPr>
        <p:spPr>
          <a:xfrm>
            <a:off x="1314450" y="198120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 dirty="0" err="1">
                <a:solidFill>
                  <a:srgbClr val="111827"/>
                </a:solidFill>
              </a:rPr>
              <a:t>Inicio</a:t>
            </a:r>
            <a:r>
              <a:rPr sz="1650" b="1" dirty="0">
                <a:solidFill>
                  <a:srgbClr val="111827"/>
                </a:solidFill>
              </a:rPr>
              <a:t> de </a:t>
            </a:r>
            <a:r>
              <a:rPr sz="1650" b="1" dirty="0" err="1">
                <a:solidFill>
                  <a:srgbClr val="111827"/>
                </a:solidFill>
              </a:rPr>
              <a:t>sesión</a:t>
            </a:r>
            <a:endParaRPr sz="1650" b="1" dirty="0">
              <a:solidFill>
                <a:srgbClr val="111827"/>
              </a:solidFill>
            </a:endParaRPr>
          </a:p>
        </p:txBody>
      </p:sp>
      <p:sp>
        <p:nvSpPr>
          <p:cNvPr id="10" name="step-body">
            <a:extLst>
              <a:ext uri="{FF2B5EF4-FFF2-40B4-BE49-F238E27FC236}">
                <a16:creationId xmlns:a16="http://schemas.microsoft.com/office/drawing/2014/main" id="{2440F625-B87B-4B18-A3FE-3554E8470BEE}"/>
              </a:ext>
            </a:extLst>
          </p:cNvPr>
          <p:cNvSpPr>
            <a:spLocks noGrp="1"/>
          </p:cNvSpPr>
          <p:nvPr/>
        </p:nvSpPr>
        <p:spPr>
          <a:xfrm>
            <a:off x="1276350" y="2617468"/>
            <a:ext cx="1504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96273"/>
                </a:solidFill>
              </a:defRPr>
            </a:pPr>
            <a:r>
              <a:rPr sz="1275" b="0" dirty="0">
                <a:solidFill>
                  <a:srgbClr val="596273"/>
                </a:solidFill>
              </a:rPr>
              <a:t>El </a:t>
            </a:r>
            <a:r>
              <a:rPr sz="1275" b="0" dirty="0" err="1">
                <a:solidFill>
                  <a:srgbClr val="596273"/>
                </a:solidFill>
              </a:rPr>
              <a:t>cliente</a:t>
            </a:r>
            <a:r>
              <a:rPr sz="1275" b="0" dirty="0">
                <a:solidFill>
                  <a:srgbClr val="596273"/>
                </a:solidFill>
              </a:rPr>
              <a:t> </a:t>
            </a:r>
            <a:r>
              <a:rPr sz="1275" b="0" dirty="0" err="1">
                <a:solidFill>
                  <a:srgbClr val="596273"/>
                </a:solidFill>
              </a:rPr>
              <a:t>entra</a:t>
            </a:r>
            <a:r>
              <a:rPr sz="1275" b="0" dirty="0">
                <a:solidFill>
                  <a:srgbClr val="596273"/>
                </a:solidFill>
              </a:rPr>
              <a:t> con </a:t>
            </a:r>
            <a:r>
              <a:rPr sz="1275" b="0" dirty="0" err="1">
                <a:solidFill>
                  <a:srgbClr val="596273"/>
                </a:solidFill>
              </a:rPr>
              <a:t>su</a:t>
            </a:r>
            <a:r>
              <a:rPr sz="1275" b="0" dirty="0">
                <a:solidFill>
                  <a:srgbClr val="596273"/>
                </a:solidFill>
              </a:rPr>
              <a:t> </a:t>
            </a:r>
            <a:r>
              <a:rPr sz="1275" b="0" dirty="0" err="1">
                <a:solidFill>
                  <a:srgbClr val="596273"/>
                </a:solidFill>
              </a:rPr>
              <a:t>cuenta</a:t>
            </a:r>
            <a:r>
              <a:rPr sz="1275" b="0" dirty="0">
                <a:solidFill>
                  <a:srgbClr val="596273"/>
                </a:solidFill>
              </a:rPr>
              <a:t> o se </a:t>
            </a:r>
            <a:r>
              <a:rPr sz="1275" b="0" dirty="0" err="1">
                <a:solidFill>
                  <a:srgbClr val="596273"/>
                </a:solidFill>
              </a:rPr>
              <a:t>registra</a:t>
            </a:r>
            <a:r>
              <a:rPr sz="1275" b="0" dirty="0">
                <a:solidFill>
                  <a:srgbClr val="596273"/>
                </a:solidFill>
              </a:rPr>
              <a:t>.</a:t>
            </a:r>
          </a:p>
        </p:txBody>
      </p:sp>
      <p:sp>
        <p:nvSpPr>
          <p:cNvPr id="11" name="step-box">
            <a:extLst>
              <a:ext uri="{FF2B5EF4-FFF2-40B4-BE49-F238E27FC236}">
                <a16:creationId xmlns:a16="http://schemas.microsoft.com/office/drawing/2014/main" id="{E9D87011-6247-494D-B951-AAA71761FCB8}"/>
              </a:ext>
            </a:extLst>
          </p:cNvPr>
          <p:cNvSpPr>
            <a:spLocks noGrp="1"/>
          </p:cNvSpPr>
          <p:nvPr/>
        </p:nvSpPr>
        <p:spPr>
          <a:xfrm>
            <a:off x="3505200" y="1809750"/>
            <a:ext cx="2381250" cy="1543050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tep-number">
            <a:extLst>
              <a:ext uri="{FF2B5EF4-FFF2-40B4-BE49-F238E27FC236}">
                <a16:creationId xmlns:a16="http://schemas.microsoft.com/office/drawing/2014/main" id="{33F70C2B-39F5-402E-8639-6F504F98CAB2}"/>
              </a:ext>
            </a:extLst>
          </p:cNvPr>
          <p:cNvSpPr>
            <a:spLocks noGrp="1"/>
          </p:cNvSpPr>
          <p:nvPr/>
        </p:nvSpPr>
        <p:spPr>
          <a:xfrm>
            <a:off x="3676650" y="2000250"/>
            <a:ext cx="361950" cy="361950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tep-num-text">
            <a:extLst>
              <a:ext uri="{FF2B5EF4-FFF2-40B4-BE49-F238E27FC236}">
                <a16:creationId xmlns:a16="http://schemas.microsoft.com/office/drawing/2014/main" id="{747EA0ED-C7D1-4C35-A5F1-9D6A517848C1}"/>
              </a:ext>
            </a:extLst>
          </p:cNvPr>
          <p:cNvSpPr>
            <a:spLocks noGrp="1"/>
          </p:cNvSpPr>
          <p:nvPr/>
        </p:nvSpPr>
        <p:spPr>
          <a:xfrm>
            <a:off x="3676650" y="20478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step-head">
            <a:extLst>
              <a:ext uri="{FF2B5EF4-FFF2-40B4-BE49-F238E27FC236}">
                <a16:creationId xmlns:a16="http://schemas.microsoft.com/office/drawing/2014/main" id="{0DF3B268-9BE6-4FAA-82E8-75D0BD719DD8}"/>
              </a:ext>
            </a:extLst>
          </p:cNvPr>
          <p:cNvSpPr>
            <a:spLocks noGrp="1"/>
          </p:cNvSpPr>
          <p:nvPr/>
        </p:nvSpPr>
        <p:spPr>
          <a:xfrm>
            <a:off x="4171950" y="198120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Portal</a:t>
            </a:r>
          </a:p>
        </p:txBody>
      </p:sp>
      <p:sp>
        <p:nvSpPr>
          <p:cNvPr id="15" name="step-body">
            <a:extLst>
              <a:ext uri="{FF2B5EF4-FFF2-40B4-BE49-F238E27FC236}">
                <a16:creationId xmlns:a16="http://schemas.microsoft.com/office/drawing/2014/main" id="{D8427FB5-1A1F-4A11-AF79-052F0B8770B8}"/>
              </a:ext>
            </a:extLst>
          </p:cNvPr>
          <p:cNvSpPr>
            <a:spLocks noGrp="1"/>
          </p:cNvSpPr>
          <p:nvPr/>
        </p:nvSpPr>
        <p:spPr>
          <a:xfrm>
            <a:off x="4171950" y="2562225"/>
            <a:ext cx="1504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96273"/>
                </a:solidFill>
              </a:defRPr>
            </a:pPr>
            <a:r>
              <a:rPr sz="1275" b="0" dirty="0">
                <a:solidFill>
                  <a:srgbClr val="596273"/>
                </a:solidFill>
              </a:rPr>
              <a:t>Consulta </a:t>
            </a:r>
            <a:r>
              <a:rPr sz="1275" b="0" dirty="0" err="1">
                <a:solidFill>
                  <a:srgbClr val="596273"/>
                </a:solidFill>
              </a:rPr>
              <a:t>resumen</a:t>
            </a:r>
            <a:r>
              <a:rPr sz="1275" b="0" dirty="0">
                <a:solidFill>
                  <a:srgbClr val="596273"/>
                </a:solidFill>
              </a:rPr>
              <a:t> de </a:t>
            </a:r>
            <a:r>
              <a:rPr sz="1275" b="0" dirty="0" err="1">
                <a:solidFill>
                  <a:srgbClr val="596273"/>
                </a:solidFill>
              </a:rPr>
              <a:t>pedidos</a:t>
            </a:r>
            <a:r>
              <a:rPr sz="1275" b="0" dirty="0">
                <a:solidFill>
                  <a:srgbClr val="596273"/>
                </a:solidFill>
              </a:rPr>
              <a:t> y </a:t>
            </a:r>
            <a:r>
              <a:rPr sz="1275" b="0" dirty="0" err="1">
                <a:solidFill>
                  <a:srgbClr val="596273"/>
                </a:solidFill>
              </a:rPr>
              <a:t>productos</a:t>
            </a:r>
            <a:r>
              <a:rPr sz="1275" b="0" dirty="0">
                <a:solidFill>
                  <a:srgbClr val="596273"/>
                </a:solidFill>
              </a:rPr>
              <a:t>.</a:t>
            </a:r>
          </a:p>
        </p:txBody>
      </p:sp>
      <p:sp>
        <p:nvSpPr>
          <p:cNvPr id="16" name="step-box">
            <a:extLst>
              <a:ext uri="{FF2B5EF4-FFF2-40B4-BE49-F238E27FC236}">
                <a16:creationId xmlns:a16="http://schemas.microsoft.com/office/drawing/2014/main" id="{4FC6568C-88A0-4EB7-86D6-7DF073038FAD}"/>
              </a:ext>
            </a:extLst>
          </p:cNvPr>
          <p:cNvSpPr>
            <a:spLocks noGrp="1"/>
          </p:cNvSpPr>
          <p:nvPr/>
        </p:nvSpPr>
        <p:spPr>
          <a:xfrm>
            <a:off x="6362700" y="1809749"/>
            <a:ext cx="2381250" cy="1543051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tep-number">
            <a:extLst>
              <a:ext uri="{FF2B5EF4-FFF2-40B4-BE49-F238E27FC236}">
                <a16:creationId xmlns:a16="http://schemas.microsoft.com/office/drawing/2014/main" id="{011C7AB4-277B-40F0-8BC0-80E3FD37DEBB}"/>
              </a:ext>
            </a:extLst>
          </p:cNvPr>
          <p:cNvSpPr>
            <a:spLocks noGrp="1"/>
          </p:cNvSpPr>
          <p:nvPr/>
        </p:nvSpPr>
        <p:spPr>
          <a:xfrm>
            <a:off x="6534150" y="2000250"/>
            <a:ext cx="361950" cy="361950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step-num-text">
            <a:extLst>
              <a:ext uri="{FF2B5EF4-FFF2-40B4-BE49-F238E27FC236}">
                <a16:creationId xmlns:a16="http://schemas.microsoft.com/office/drawing/2014/main" id="{79FB8DAB-86C8-4B87-AF18-ED346057DFB4}"/>
              </a:ext>
            </a:extLst>
          </p:cNvPr>
          <p:cNvSpPr>
            <a:spLocks noGrp="1"/>
          </p:cNvSpPr>
          <p:nvPr/>
        </p:nvSpPr>
        <p:spPr>
          <a:xfrm>
            <a:off x="6534150" y="20478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step-head">
            <a:extLst>
              <a:ext uri="{FF2B5EF4-FFF2-40B4-BE49-F238E27FC236}">
                <a16:creationId xmlns:a16="http://schemas.microsoft.com/office/drawing/2014/main" id="{E9192156-0B90-4864-9B0A-544EC2DDB073}"/>
              </a:ext>
            </a:extLst>
          </p:cNvPr>
          <p:cNvSpPr>
            <a:spLocks noGrp="1"/>
          </p:cNvSpPr>
          <p:nvPr/>
        </p:nvSpPr>
        <p:spPr>
          <a:xfrm>
            <a:off x="7029450" y="198120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 dirty="0" err="1">
                <a:solidFill>
                  <a:srgbClr val="111827"/>
                </a:solidFill>
              </a:rPr>
              <a:t>Solicitar</a:t>
            </a:r>
            <a:r>
              <a:rPr lang="en-US" sz="1650" b="1" dirty="0">
                <a:solidFill>
                  <a:srgbClr val="111827"/>
                </a:solidFill>
              </a:rPr>
              <a:t> </a:t>
            </a:r>
            <a:r>
              <a:rPr sz="1650" b="1" dirty="0" err="1">
                <a:solidFill>
                  <a:srgbClr val="111827"/>
                </a:solidFill>
              </a:rPr>
              <a:t>pedido</a:t>
            </a:r>
            <a:endParaRPr lang="en-US" sz="1650" b="1" dirty="0">
              <a:solidFill>
                <a:srgbClr val="111827"/>
              </a:solidFill>
            </a:endParaRPr>
          </a:p>
        </p:txBody>
      </p:sp>
      <p:sp>
        <p:nvSpPr>
          <p:cNvPr id="20" name="step-body">
            <a:extLst>
              <a:ext uri="{FF2B5EF4-FFF2-40B4-BE49-F238E27FC236}">
                <a16:creationId xmlns:a16="http://schemas.microsoft.com/office/drawing/2014/main" id="{52330909-C745-4096-ADF3-B6CDF4B67C96}"/>
              </a:ext>
            </a:extLst>
          </p:cNvPr>
          <p:cNvSpPr>
            <a:spLocks noGrp="1"/>
          </p:cNvSpPr>
          <p:nvPr/>
        </p:nvSpPr>
        <p:spPr>
          <a:xfrm>
            <a:off x="7029450" y="2617468"/>
            <a:ext cx="1504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96273"/>
                </a:solidFill>
              </a:defRPr>
            </a:pPr>
            <a:r>
              <a:rPr sz="1275" b="0" dirty="0">
                <a:solidFill>
                  <a:srgbClr val="596273"/>
                </a:solidFill>
              </a:rPr>
              <a:t>Elige </a:t>
            </a:r>
            <a:r>
              <a:rPr sz="1275" b="0" dirty="0" err="1">
                <a:solidFill>
                  <a:srgbClr val="596273"/>
                </a:solidFill>
              </a:rPr>
              <a:t>producto</a:t>
            </a:r>
            <a:r>
              <a:rPr sz="1275" b="0" dirty="0">
                <a:solidFill>
                  <a:srgbClr val="596273"/>
                </a:solidFill>
              </a:rPr>
              <a:t> Gloria, </a:t>
            </a:r>
            <a:r>
              <a:rPr sz="1275" b="0" dirty="0" err="1">
                <a:solidFill>
                  <a:srgbClr val="596273"/>
                </a:solidFill>
              </a:rPr>
              <a:t>cantidad</a:t>
            </a:r>
            <a:r>
              <a:rPr sz="1275" b="0" dirty="0">
                <a:solidFill>
                  <a:srgbClr val="596273"/>
                </a:solidFill>
              </a:rPr>
              <a:t> y canal.</a:t>
            </a:r>
          </a:p>
        </p:txBody>
      </p:sp>
      <p:sp>
        <p:nvSpPr>
          <p:cNvPr id="21" name="step-box">
            <a:extLst>
              <a:ext uri="{FF2B5EF4-FFF2-40B4-BE49-F238E27FC236}">
                <a16:creationId xmlns:a16="http://schemas.microsoft.com/office/drawing/2014/main" id="{F9FC6DCE-47B4-4AE9-9BFD-EDD85CB40158}"/>
              </a:ext>
            </a:extLst>
          </p:cNvPr>
          <p:cNvSpPr>
            <a:spLocks noGrp="1"/>
          </p:cNvSpPr>
          <p:nvPr/>
        </p:nvSpPr>
        <p:spPr>
          <a:xfrm>
            <a:off x="9220200" y="1809750"/>
            <a:ext cx="2381250" cy="1543050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step-number">
            <a:extLst>
              <a:ext uri="{FF2B5EF4-FFF2-40B4-BE49-F238E27FC236}">
                <a16:creationId xmlns:a16="http://schemas.microsoft.com/office/drawing/2014/main" id="{97350837-4198-452C-9514-09538009929E}"/>
              </a:ext>
            </a:extLst>
          </p:cNvPr>
          <p:cNvSpPr>
            <a:spLocks noGrp="1"/>
          </p:cNvSpPr>
          <p:nvPr/>
        </p:nvSpPr>
        <p:spPr>
          <a:xfrm>
            <a:off x="9391650" y="2000250"/>
            <a:ext cx="361950" cy="361950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tep-num-text">
            <a:extLst>
              <a:ext uri="{FF2B5EF4-FFF2-40B4-BE49-F238E27FC236}">
                <a16:creationId xmlns:a16="http://schemas.microsoft.com/office/drawing/2014/main" id="{251EDB1D-C350-4ED2-B0DB-A9617340529B}"/>
              </a:ext>
            </a:extLst>
          </p:cNvPr>
          <p:cNvSpPr>
            <a:spLocks noGrp="1"/>
          </p:cNvSpPr>
          <p:nvPr/>
        </p:nvSpPr>
        <p:spPr>
          <a:xfrm>
            <a:off x="9391650" y="204787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step-head">
            <a:extLst>
              <a:ext uri="{FF2B5EF4-FFF2-40B4-BE49-F238E27FC236}">
                <a16:creationId xmlns:a16="http://schemas.microsoft.com/office/drawing/2014/main" id="{EE5EB9FB-4D7E-4C45-B900-DB7DCD25C912}"/>
              </a:ext>
            </a:extLst>
          </p:cNvPr>
          <p:cNvSpPr>
            <a:spLocks noGrp="1"/>
          </p:cNvSpPr>
          <p:nvPr/>
        </p:nvSpPr>
        <p:spPr>
          <a:xfrm>
            <a:off x="9886950" y="198120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Seguimiento</a:t>
            </a:r>
          </a:p>
        </p:txBody>
      </p:sp>
      <p:sp>
        <p:nvSpPr>
          <p:cNvPr id="25" name="step-body">
            <a:extLst>
              <a:ext uri="{FF2B5EF4-FFF2-40B4-BE49-F238E27FC236}">
                <a16:creationId xmlns:a16="http://schemas.microsoft.com/office/drawing/2014/main" id="{C43F12BD-2CB6-4692-969A-57AA217476E5}"/>
              </a:ext>
            </a:extLst>
          </p:cNvPr>
          <p:cNvSpPr>
            <a:spLocks noGrp="1"/>
          </p:cNvSpPr>
          <p:nvPr/>
        </p:nvSpPr>
        <p:spPr>
          <a:xfrm>
            <a:off x="9886950" y="2564890"/>
            <a:ext cx="1504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96273"/>
                </a:solidFill>
              </a:defRPr>
            </a:pPr>
            <a:r>
              <a:rPr sz="1275" b="0" dirty="0" err="1">
                <a:solidFill>
                  <a:srgbClr val="596273"/>
                </a:solidFill>
              </a:rPr>
              <a:t>Revisa</a:t>
            </a:r>
            <a:r>
              <a:rPr sz="1275" b="0" dirty="0">
                <a:solidFill>
                  <a:srgbClr val="596273"/>
                </a:solidFill>
              </a:rPr>
              <a:t> </a:t>
            </a:r>
            <a:r>
              <a:rPr sz="1275" b="0" dirty="0" err="1">
                <a:solidFill>
                  <a:srgbClr val="596273"/>
                </a:solidFill>
              </a:rPr>
              <a:t>estado</a:t>
            </a:r>
            <a:r>
              <a:rPr sz="1275" b="0" dirty="0">
                <a:solidFill>
                  <a:srgbClr val="596273"/>
                </a:solidFill>
              </a:rPr>
              <a:t>, total y </a:t>
            </a:r>
            <a:r>
              <a:rPr sz="1275" b="0" dirty="0" err="1">
                <a:solidFill>
                  <a:srgbClr val="596273"/>
                </a:solidFill>
              </a:rPr>
              <a:t>comprobante</a:t>
            </a:r>
            <a:r>
              <a:rPr sz="1275" b="0" dirty="0">
                <a:solidFill>
                  <a:srgbClr val="596273"/>
                </a:solidFill>
              </a:rPr>
              <a:t>.</a:t>
            </a:r>
          </a:p>
        </p:txBody>
      </p:sp>
      <p:sp>
        <p:nvSpPr>
          <p:cNvPr id="26" name="diff-title">
            <a:extLst>
              <a:ext uri="{FF2B5EF4-FFF2-40B4-BE49-F238E27FC236}">
                <a16:creationId xmlns:a16="http://schemas.microsoft.com/office/drawing/2014/main" id="{90820320-8EBD-4665-B048-38DCD1D027DC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Diferencia importante</a:t>
            </a:r>
          </a:p>
        </p:txBody>
      </p:sp>
      <p:sp>
        <p:nvSpPr>
          <p:cNvPr id="27" name="diff-body">
            <a:extLst>
              <a:ext uri="{FF2B5EF4-FFF2-40B4-BE49-F238E27FC236}">
                <a16:creationId xmlns:a16="http://schemas.microsoft.com/office/drawing/2014/main" id="{1D2EAB0E-1C98-4438-87B3-5D2F6954D1D7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596273"/>
                </a:solidFill>
              </a:defRPr>
            </a:pPr>
            <a:r>
              <a:rPr sz="1875" b="0">
                <a:solidFill>
                  <a:srgbClr val="596273"/>
                </a:solidFill>
              </a:rPr>
              <a:t>El cliente no ve módulos técnicos internos. Su experiencia se centra en pedidos, productos, precios, comprobantes y soporte.</a:t>
            </a:r>
          </a:p>
        </p:txBody>
      </p:sp>
    </p:spTree>
    <p:extLst>
      <p:ext uri="{BB962C8B-B14F-4D97-AF65-F5344CB8AC3E}">
        <p14:creationId xmlns:p14="http://schemas.microsoft.com/office/powerpoint/2010/main" val="1854710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title">
            <a:extLst>
              <a:ext uri="{FF2B5EF4-FFF2-40B4-BE49-F238E27FC236}">
                <a16:creationId xmlns:a16="http://schemas.microsoft.com/office/drawing/2014/main" id="{AAA7B3C0-74EF-4B20-8F4D-4459623A1F50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Pedido con productos y precios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785659A5-4D3F-4FF6-8515-767B3420A3CD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96273"/>
                </a:solidFill>
              </a:defRPr>
            </a:pPr>
            <a:r>
              <a:rPr sz="1500" b="0">
                <a:solidFill>
                  <a:srgbClr val="596273"/>
                </a:solidFill>
              </a:rPr>
              <a:t>El formulario de cliente ya muestra qué va a pedir y cuánto cuesta.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6674B626-D0AD-4569-8B2F-E17986EA163C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876300" cy="47625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footer-brand">
            <a:extLst>
              <a:ext uri="{FF2B5EF4-FFF2-40B4-BE49-F238E27FC236}">
                <a16:creationId xmlns:a16="http://schemas.microsoft.com/office/drawing/2014/main" id="{C45DED53-3D56-4F4F-B356-B1AB1B78110F}"/>
              </a:ext>
            </a:extLst>
          </p:cNvPr>
          <p:cNvSpPr>
            <a:spLocks noGrp="1"/>
          </p:cNvSpPr>
          <p:nvPr/>
        </p:nvSpPr>
        <p:spPr>
          <a:xfrm>
            <a:off x="400050" y="63341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SIG-GLORIA</a:t>
            </a:r>
          </a:p>
        </p:txBody>
      </p:sp>
      <p:sp>
        <p:nvSpPr>
          <p:cNvPr id="5" name="footer-num">
            <a:extLst>
              <a:ext uri="{FF2B5EF4-FFF2-40B4-BE49-F238E27FC236}">
                <a16:creationId xmlns:a16="http://schemas.microsoft.com/office/drawing/2014/main" id="{2F37627C-436E-4732-9A1F-C4A9DE685CFA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08</a:t>
            </a:r>
          </a:p>
        </p:txBody>
      </p:sp>
      <p:sp>
        <p:nvSpPr>
          <p:cNvPr id="6" name="form-box">
            <a:extLst>
              <a:ext uri="{FF2B5EF4-FFF2-40B4-BE49-F238E27FC236}">
                <a16:creationId xmlns:a16="http://schemas.microsoft.com/office/drawing/2014/main" id="{BC8D87EB-9F89-4615-964C-0F1CB06C0C09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5429250" cy="3619500"/>
          </a:xfrm>
          <a:prstGeom prst="roundRect">
            <a:avLst>
              <a:gd name="adj" fmla="val 2105"/>
            </a:avLst>
          </a:prstGeom>
          <a:solidFill>
            <a:srgbClr val="FAFAFA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form-title">
            <a:extLst>
              <a:ext uri="{FF2B5EF4-FFF2-40B4-BE49-F238E27FC236}">
                <a16:creationId xmlns:a16="http://schemas.microsoft.com/office/drawing/2014/main" id="{DF13689C-E9F6-4402-89D5-D9D869298991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Formulario de pedido</a:t>
            </a:r>
          </a:p>
        </p:txBody>
      </p:sp>
      <p:sp>
        <p:nvSpPr>
          <p:cNvPr id="8" name="field-label">
            <a:extLst>
              <a:ext uri="{FF2B5EF4-FFF2-40B4-BE49-F238E27FC236}">
                <a16:creationId xmlns:a16="http://schemas.microsoft.com/office/drawing/2014/main" id="{E5569102-E215-4AD0-BD3E-0BEEDFF723E5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96273"/>
                </a:solidFill>
              </a:defRPr>
            </a:pPr>
            <a:r>
              <a:rPr sz="1350" b="1">
                <a:solidFill>
                  <a:srgbClr val="596273"/>
                </a:solidFill>
              </a:rPr>
              <a:t>Producto Gloria</a:t>
            </a:r>
          </a:p>
        </p:txBody>
      </p:sp>
      <p:sp>
        <p:nvSpPr>
          <p:cNvPr id="9" name="field-box">
            <a:extLst>
              <a:ext uri="{FF2B5EF4-FFF2-40B4-BE49-F238E27FC236}">
                <a16:creationId xmlns:a16="http://schemas.microsoft.com/office/drawing/2014/main" id="{0945A2D5-F764-4719-9DC4-8BCCD697E1F8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2857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field-value">
            <a:extLst>
              <a:ext uri="{FF2B5EF4-FFF2-40B4-BE49-F238E27FC236}">
                <a16:creationId xmlns:a16="http://schemas.microsoft.com/office/drawing/2014/main" id="{92CE03C0-8C1F-4D07-A189-915A84A3FD2E}"/>
              </a:ext>
            </a:extLst>
          </p:cNvPr>
          <p:cNvSpPr>
            <a:spLocks noGrp="1"/>
          </p:cNvSpPr>
          <p:nvPr/>
        </p:nvSpPr>
        <p:spPr>
          <a:xfrm>
            <a:off x="2724150" y="24955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Leche entera UHT Gloria</a:t>
            </a:r>
          </a:p>
        </p:txBody>
      </p:sp>
      <p:sp>
        <p:nvSpPr>
          <p:cNvPr id="11" name="field-label">
            <a:extLst>
              <a:ext uri="{FF2B5EF4-FFF2-40B4-BE49-F238E27FC236}">
                <a16:creationId xmlns:a16="http://schemas.microsoft.com/office/drawing/2014/main" id="{36580FA2-D0CB-4C7E-ADA1-0BCFD07E074C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96273"/>
                </a:solidFill>
              </a:defRPr>
            </a:pPr>
            <a:r>
              <a:rPr sz="1350" b="1">
                <a:solidFill>
                  <a:srgbClr val="596273"/>
                </a:solidFill>
              </a:rPr>
              <a:t>Presentación</a:t>
            </a:r>
          </a:p>
        </p:txBody>
      </p:sp>
      <p:sp>
        <p:nvSpPr>
          <p:cNvPr id="12" name="field-box">
            <a:extLst>
              <a:ext uri="{FF2B5EF4-FFF2-40B4-BE49-F238E27FC236}">
                <a16:creationId xmlns:a16="http://schemas.microsoft.com/office/drawing/2014/main" id="{ABB7B91B-B8D1-45F6-AFB8-8A967F291B15}"/>
              </a:ext>
            </a:extLst>
          </p:cNvPr>
          <p:cNvSpPr>
            <a:spLocks noGrp="1"/>
          </p:cNvSpPr>
          <p:nvPr/>
        </p:nvSpPr>
        <p:spPr>
          <a:xfrm>
            <a:off x="2571750" y="2933700"/>
            <a:ext cx="2857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field-value">
            <a:extLst>
              <a:ext uri="{FF2B5EF4-FFF2-40B4-BE49-F238E27FC236}">
                <a16:creationId xmlns:a16="http://schemas.microsoft.com/office/drawing/2014/main" id="{7606D05B-8FF2-4BF9-AD50-B3C383D60E8E}"/>
              </a:ext>
            </a:extLst>
          </p:cNvPr>
          <p:cNvSpPr>
            <a:spLocks noGrp="1"/>
          </p:cNvSpPr>
          <p:nvPr/>
        </p:nvSpPr>
        <p:spPr>
          <a:xfrm>
            <a:off x="2724150" y="29908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Caja x 12 unidades 1 L</a:t>
            </a:r>
          </a:p>
        </p:txBody>
      </p:sp>
      <p:sp>
        <p:nvSpPr>
          <p:cNvPr id="14" name="field-label">
            <a:extLst>
              <a:ext uri="{FF2B5EF4-FFF2-40B4-BE49-F238E27FC236}">
                <a16:creationId xmlns:a16="http://schemas.microsoft.com/office/drawing/2014/main" id="{76A7EDD4-1D50-475D-B6DE-1B7EE430C1CF}"/>
              </a:ext>
            </a:extLst>
          </p:cNvPr>
          <p:cNvSpPr>
            <a:spLocks noGrp="1"/>
          </p:cNvSpPr>
          <p:nvPr/>
        </p:nvSpPr>
        <p:spPr>
          <a:xfrm>
            <a:off x="723900" y="34861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96273"/>
                </a:solidFill>
              </a:defRPr>
            </a:pPr>
            <a:r>
              <a:rPr sz="1350" b="1">
                <a:solidFill>
                  <a:srgbClr val="596273"/>
                </a:solidFill>
              </a:rPr>
              <a:t>Cantidad</a:t>
            </a:r>
          </a:p>
        </p:txBody>
      </p:sp>
      <p:sp>
        <p:nvSpPr>
          <p:cNvPr id="15" name="field-box">
            <a:extLst>
              <a:ext uri="{FF2B5EF4-FFF2-40B4-BE49-F238E27FC236}">
                <a16:creationId xmlns:a16="http://schemas.microsoft.com/office/drawing/2014/main" id="{651BEE87-82D4-4375-9836-4F8687855FA8}"/>
              </a:ext>
            </a:extLst>
          </p:cNvPr>
          <p:cNvSpPr>
            <a:spLocks noGrp="1"/>
          </p:cNvSpPr>
          <p:nvPr/>
        </p:nvSpPr>
        <p:spPr>
          <a:xfrm>
            <a:off x="2571750" y="3429000"/>
            <a:ext cx="2857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field-value">
            <a:extLst>
              <a:ext uri="{FF2B5EF4-FFF2-40B4-BE49-F238E27FC236}">
                <a16:creationId xmlns:a16="http://schemas.microsoft.com/office/drawing/2014/main" id="{6FC51BE7-05AA-4DC9-AC65-4D415561D742}"/>
              </a:ext>
            </a:extLst>
          </p:cNvPr>
          <p:cNvSpPr>
            <a:spLocks noGrp="1"/>
          </p:cNvSpPr>
          <p:nvPr/>
        </p:nvSpPr>
        <p:spPr>
          <a:xfrm>
            <a:off x="2724150" y="34861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17" name="field-label">
            <a:extLst>
              <a:ext uri="{FF2B5EF4-FFF2-40B4-BE49-F238E27FC236}">
                <a16:creationId xmlns:a16="http://schemas.microsoft.com/office/drawing/2014/main" id="{C4400794-C482-41DC-8F14-B17C52B58F5F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96273"/>
                </a:solidFill>
              </a:defRPr>
            </a:pPr>
            <a:r>
              <a:rPr sz="1350" b="1">
                <a:solidFill>
                  <a:srgbClr val="596273"/>
                </a:solidFill>
              </a:rPr>
              <a:t>Precio unitario</a:t>
            </a:r>
          </a:p>
        </p:txBody>
      </p:sp>
      <p:sp>
        <p:nvSpPr>
          <p:cNvPr id="18" name="field-box">
            <a:extLst>
              <a:ext uri="{FF2B5EF4-FFF2-40B4-BE49-F238E27FC236}">
                <a16:creationId xmlns:a16="http://schemas.microsoft.com/office/drawing/2014/main" id="{AA174426-A4EA-4188-9DF8-0653FEFD6EA7}"/>
              </a:ext>
            </a:extLst>
          </p:cNvPr>
          <p:cNvSpPr>
            <a:spLocks noGrp="1"/>
          </p:cNvSpPr>
          <p:nvPr/>
        </p:nvSpPr>
        <p:spPr>
          <a:xfrm>
            <a:off x="2571750" y="3924300"/>
            <a:ext cx="2857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field-value">
            <a:extLst>
              <a:ext uri="{FF2B5EF4-FFF2-40B4-BE49-F238E27FC236}">
                <a16:creationId xmlns:a16="http://schemas.microsoft.com/office/drawing/2014/main" id="{7FF0652C-1327-461E-AF4D-06F1FF70599C}"/>
              </a:ext>
            </a:extLst>
          </p:cNvPr>
          <p:cNvSpPr>
            <a:spLocks noGrp="1"/>
          </p:cNvSpPr>
          <p:nvPr/>
        </p:nvSpPr>
        <p:spPr>
          <a:xfrm>
            <a:off x="2724150" y="39814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S/ 54.90</a:t>
            </a:r>
          </a:p>
        </p:txBody>
      </p:sp>
      <p:sp>
        <p:nvSpPr>
          <p:cNvPr id="20" name="field-label">
            <a:extLst>
              <a:ext uri="{FF2B5EF4-FFF2-40B4-BE49-F238E27FC236}">
                <a16:creationId xmlns:a16="http://schemas.microsoft.com/office/drawing/2014/main" id="{2E408D18-BCAF-4575-B653-11C10AA96A55}"/>
              </a:ext>
            </a:extLst>
          </p:cNvPr>
          <p:cNvSpPr>
            <a:spLocks noGrp="1"/>
          </p:cNvSpPr>
          <p:nvPr/>
        </p:nvSpPr>
        <p:spPr>
          <a:xfrm>
            <a:off x="723900" y="44767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96273"/>
                </a:solidFill>
              </a:defRPr>
            </a:pPr>
            <a:r>
              <a:rPr sz="1350" b="1">
                <a:solidFill>
                  <a:srgbClr val="596273"/>
                </a:solidFill>
              </a:rPr>
              <a:t>Total</a:t>
            </a:r>
          </a:p>
        </p:txBody>
      </p:sp>
      <p:sp>
        <p:nvSpPr>
          <p:cNvPr id="21" name="field-box">
            <a:extLst>
              <a:ext uri="{FF2B5EF4-FFF2-40B4-BE49-F238E27FC236}">
                <a16:creationId xmlns:a16="http://schemas.microsoft.com/office/drawing/2014/main" id="{9C433084-F24D-46E0-9048-0C8FEE6F8868}"/>
              </a:ext>
            </a:extLst>
          </p:cNvPr>
          <p:cNvSpPr>
            <a:spLocks noGrp="1"/>
          </p:cNvSpPr>
          <p:nvPr/>
        </p:nvSpPr>
        <p:spPr>
          <a:xfrm>
            <a:off x="2571750" y="4419600"/>
            <a:ext cx="2857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field-value">
            <a:extLst>
              <a:ext uri="{FF2B5EF4-FFF2-40B4-BE49-F238E27FC236}">
                <a16:creationId xmlns:a16="http://schemas.microsoft.com/office/drawing/2014/main" id="{840D6D93-6883-4A2E-92EF-1F42CE78AB71}"/>
              </a:ext>
            </a:extLst>
          </p:cNvPr>
          <p:cNvSpPr>
            <a:spLocks noGrp="1"/>
          </p:cNvSpPr>
          <p:nvPr/>
        </p:nvSpPr>
        <p:spPr>
          <a:xfrm>
            <a:off x="2724150" y="44767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D61023"/>
                </a:solidFill>
              </a:defRPr>
            </a:pPr>
            <a:r>
              <a:rPr sz="1350" b="1">
                <a:solidFill>
                  <a:srgbClr val="D61023"/>
                </a:solidFill>
              </a:rPr>
              <a:t>S/ 164.70</a:t>
            </a:r>
          </a:p>
        </p:txBody>
      </p:sp>
      <p:sp>
        <p:nvSpPr>
          <p:cNvPr id="23" name="catalog-box">
            <a:extLst>
              <a:ext uri="{FF2B5EF4-FFF2-40B4-BE49-F238E27FC236}">
                <a16:creationId xmlns:a16="http://schemas.microsoft.com/office/drawing/2014/main" id="{E2468685-43F4-4F3B-90F3-A464D82B6C2F}"/>
              </a:ext>
            </a:extLst>
          </p:cNvPr>
          <p:cNvSpPr>
            <a:spLocks noGrp="1"/>
          </p:cNvSpPr>
          <p:nvPr/>
        </p:nvSpPr>
        <p:spPr>
          <a:xfrm>
            <a:off x="6667500" y="1619250"/>
            <a:ext cx="4762500" cy="3619500"/>
          </a:xfrm>
          <a:prstGeom prst="roundRect">
            <a:avLst>
              <a:gd name="adj" fmla="val 2105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catalog-title">
            <a:extLst>
              <a:ext uri="{FF2B5EF4-FFF2-40B4-BE49-F238E27FC236}">
                <a16:creationId xmlns:a16="http://schemas.microsoft.com/office/drawing/2014/main" id="{DD8F3AC0-3D18-4CFF-B1A2-02B2F7006953}"/>
              </a:ext>
            </a:extLst>
          </p:cNvPr>
          <p:cNvSpPr>
            <a:spLocks noGrp="1"/>
          </p:cNvSpPr>
          <p:nvPr/>
        </p:nvSpPr>
        <p:spPr>
          <a:xfrm>
            <a:off x="6953250" y="19431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D61023"/>
                </a:solidFill>
              </a:defRPr>
            </a:pPr>
            <a:r>
              <a:rPr sz="2100" b="1">
                <a:solidFill>
                  <a:srgbClr val="D61023"/>
                </a:solidFill>
              </a:rPr>
              <a:t>Catálogo Gloria</a:t>
            </a:r>
          </a:p>
        </p:txBody>
      </p:sp>
      <p:sp>
        <p:nvSpPr>
          <p:cNvPr id="25" name="catalog-list">
            <a:extLst>
              <a:ext uri="{FF2B5EF4-FFF2-40B4-BE49-F238E27FC236}">
                <a16:creationId xmlns:a16="http://schemas.microsoft.com/office/drawing/2014/main" id="{B070C7C3-98F8-4AC3-B04A-13400A31A822}"/>
              </a:ext>
            </a:extLst>
          </p:cNvPr>
          <p:cNvSpPr>
            <a:spLocks noGrp="1"/>
          </p:cNvSpPr>
          <p:nvPr/>
        </p:nvSpPr>
        <p:spPr>
          <a:xfrm>
            <a:off x="6953250" y="2552700"/>
            <a:ext cx="3905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Leche evaporada Gloria</a:t>
            </a:r>
          </a:p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Leche entera UHT Gloria</a:t>
            </a:r>
          </a:p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Yogurt Gloria fresa</a:t>
            </a:r>
          </a:p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Queso fresco Gloria</a:t>
            </a:r>
          </a:p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Mantequilla Gloria</a:t>
            </a:r>
          </a:p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Manjar blanco Gloria</a:t>
            </a:r>
          </a:p>
        </p:txBody>
      </p:sp>
      <p:sp>
        <p:nvSpPr>
          <p:cNvPr id="26" name="catalog-note">
            <a:extLst>
              <a:ext uri="{FF2B5EF4-FFF2-40B4-BE49-F238E27FC236}">
                <a16:creationId xmlns:a16="http://schemas.microsoft.com/office/drawing/2014/main" id="{5D560676-DC90-49E9-A203-C2F64E94281F}"/>
              </a:ext>
            </a:extLst>
          </p:cNvPr>
          <p:cNvSpPr>
            <a:spLocks noGrp="1"/>
          </p:cNvSpPr>
          <p:nvPr/>
        </p:nvSpPr>
        <p:spPr>
          <a:xfrm>
            <a:off x="6953250" y="476250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96273"/>
                </a:solidFill>
              </a:defRPr>
            </a:pPr>
            <a:r>
              <a:rPr sz="1500" b="0">
                <a:solidFill>
                  <a:srgbClr val="596273"/>
                </a:solidFill>
              </a:rPr>
              <a:t>El total se calcula automáticamente según cantidad y precio unitario.</a:t>
            </a:r>
          </a:p>
        </p:txBody>
      </p:sp>
    </p:spTree>
    <p:extLst>
      <p:ext uri="{BB962C8B-B14F-4D97-AF65-F5344CB8AC3E}">
        <p14:creationId xmlns:p14="http://schemas.microsoft.com/office/powerpoint/2010/main" val="1220095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097A1FE3-E739-435E-AF17-ED5F40662D60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Validación antes de presentar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C866173-B849-42AA-86C0-8618A7A88EC9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96273"/>
                </a:solidFill>
              </a:defRPr>
            </a:pPr>
            <a:r>
              <a:rPr sz="1500" b="0">
                <a:solidFill>
                  <a:srgbClr val="596273"/>
                </a:solidFill>
              </a:rPr>
              <a:t>Se comprobaron los flujos principales del sistema.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53A0AD47-5334-4552-B0F9-6D337BB17A08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876300" cy="47625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footer-brand">
            <a:extLst>
              <a:ext uri="{FF2B5EF4-FFF2-40B4-BE49-F238E27FC236}">
                <a16:creationId xmlns:a16="http://schemas.microsoft.com/office/drawing/2014/main" id="{DE2FA52B-5682-4067-AADA-182C742C5520}"/>
              </a:ext>
            </a:extLst>
          </p:cNvPr>
          <p:cNvSpPr>
            <a:spLocks noGrp="1"/>
          </p:cNvSpPr>
          <p:nvPr/>
        </p:nvSpPr>
        <p:spPr>
          <a:xfrm>
            <a:off x="400050" y="63341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SIG-GLORIA</a:t>
            </a:r>
          </a:p>
        </p:txBody>
      </p:sp>
      <p:sp>
        <p:nvSpPr>
          <p:cNvPr id="5" name="footer-num">
            <a:extLst>
              <a:ext uri="{FF2B5EF4-FFF2-40B4-BE49-F238E27FC236}">
                <a16:creationId xmlns:a16="http://schemas.microsoft.com/office/drawing/2014/main" id="{6215E2B4-7633-486B-8F4E-F77B5AB4A75E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09</a:t>
            </a:r>
          </a:p>
        </p:txBody>
      </p:sp>
      <p:sp>
        <p:nvSpPr>
          <p:cNvPr id="6" name="check-square">
            <a:extLst>
              <a:ext uri="{FF2B5EF4-FFF2-40B4-BE49-F238E27FC236}">
                <a16:creationId xmlns:a16="http://schemas.microsoft.com/office/drawing/2014/main" id="{EBA83D5B-B41E-4C7F-8E27-C45A0FC5A0FC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323850" cy="323850"/>
          </a:xfrm>
          <a:prstGeom prst="rect">
            <a:avLst/>
          </a:prstGeom>
          <a:solidFill>
            <a:srgbClr val="119447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check">
            <a:extLst>
              <a:ext uri="{FF2B5EF4-FFF2-40B4-BE49-F238E27FC236}">
                <a16:creationId xmlns:a16="http://schemas.microsoft.com/office/drawing/2014/main" id="{C5F0ED8D-E119-4A1D-B8A9-A0B6A8D12172}"/>
              </a:ext>
            </a:extLst>
          </p:cNvPr>
          <p:cNvSpPr>
            <a:spLocks noGrp="1"/>
          </p:cNvSpPr>
          <p:nvPr/>
        </p:nvSpPr>
        <p:spPr>
          <a:xfrm>
            <a:off x="571500" y="16954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check-head">
            <a:extLst>
              <a:ext uri="{FF2B5EF4-FFF2-40B4-BE49-F238E27FC236}">
                <a16:creationId xmlns:a16="http://schemas.microsoft.com/office/drawing/2014/main" id="{57AC2AF7-52F6-4C20-ABE8-CE21947310F3}"/>
              </a:ext>
            </a:extLst>
          </p:cNvPr>
          <p:cNvSpPr>
            <a:spLocks noGrp="1"/>
          </p:cNvSpPr>
          <p:nvPr/>
        </p:nvSpPr>
        <p:spPr>
          <a:xfrm>
            <a:off x="1104900" y="16573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Login y registro</a:t>
            </a:r>
          </a:p>
        </p:txBody>
      </p:sp>
      <p:sp>
        <p:nvSpPr>
          <p:cNvPr id="9" name="check-body">
            <a:extLst>
              <a:ext uri="{FF2B5EF4-FFF2-40B4-BE49-F238E27FC236}">
                <a16:creationId xmlns:a16="http://schemas.microsoft.com/office/drawing/2014/main" id="{E66D65A1-EBDE-46A2-84AA-58E8D6B67AAA}"/>
              </a:ext>
            </a:extLst>
          </p:cNvPr>
          <p:cNvSpPr>
            <a:spLocks noGrp="1"/>
          </p:cNvSpPr>
          <p:nvPr/>
        </p:nvSpPr>
        <p:spPr>
          <a:xfrm>
            <a:off x="4000500" y="16764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96273"/>
                </a:solidFill>
              </a:defRPr>
            </a:pPr>
            <a:r>
              <a:rPr sz="1575" b="0">
                <a:solidFill>
                  <a:srgbClr val="596273"/>
                </a:solidFill>
              </a:rPr>
              <a:t>Avisos superiores de éxito y error.</a:t>
            </a:r>
          </a:p>
        </p:txBody>
      </p:sp>
      <p:sp>
        <p:nvSpPr>
          <p:cNvPr id="10" name="check-square">
            <a:extLst>
              <a:ext uri="{FF2B5EF4-FFF2-40B4-BE49-F238E27FC236}">
                <a16:creationId xmlns:a16="http://schemas.microsoft.com/office/drawing/2014/main" id="{8BC3B006-C617-41D1-9D21-56962485E2BF}"/>
              </a:ext>
            </a:extLst>
          </p:cNvPr>
          <p:cNvSpPr>
            <a:spLocks noGrp="1"/>
          </p:cNvSpPr>
          <p:nvPr/>
        </p:nvSpPr>
        <p:spPr>
          <a:xfrm>
            <a:off x="571500" y="2419350"/>
            <a:ext cx="323850" cy="323850"/>
          </a:xfrm>
          <a:prstGeom prst="rect">
            <a:avLst/>
          </a:prstGeom>
          <a:solidFill>
            <a:srgbClr val="119447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check">
            <a:extLst>
              <a:ext uri="{FF2B5EF4-FFF2-40B4-BE49-F238E27FC236}">
                <a16:creationId xmlns:a16="http://schemas.microsoft.com/office/drawing/2014/main" id="{A0CF5FCF-29EC-447C-B599-AD75422A1691}"/>
              </a:ext>
            </a:extLst>
          </p:cNvPr>
          <p:cNvSpPr>
            <a:spLocks noGrp="1"/>
          </p:cNvSpPr>
          <p:nvPr/>
        </p:nvSpPr>
        <p:spPr>
          <a:xfrm>
            <a:off x="571500" y="24384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check-head">
            <a:extLst>
              <a:ext uri="{FF2B5EF4-FFF2-40B4-BE49-F238E27FC236}">
                <a16:creationId xmlns:a16="http://schemas.microsoft.com/office/drawing/2014/main" id="{13F60780-F92D-4374-988A-2766F1C3B573}"/>
              </a:ext>
            </a:extLst>
          </p:cNvPr>
          <p:cNvSpPr>
            <a:spLocks noGrp="1"/>
          </p:cNvSpPr>
          <p:nvPr/>
        </p:nvSpPr>
        <p:spPr>
          <a:xfrm>
            <a:off x="1104900" y="24003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Menú limpio</a:t>
            </a:r>
          </a:p>
        </p:txBody>
      </p:sp>
      <p:sp>
        <p:nvSpPr>
          <p:cNvPr id="13" name="check-body">
            <a:extLst>
              <a:ext uri="{FF2B5EF4-FFF2-40B4-BE49-F238E27FC236}">
                <a16:creationId xmlns:a16="http://schemas.microsoft.com/office/drawing/2014/main" id="{A86D0997-9F71-4626-8358-D61A7607B081}"/>
              </a:ext>
            </a:extLst>
          </p:cNvPr>
          <p:cNvSpPr>
            <a:spLocks noGrp="1"/>
          </p:cNvSpPr>
          <p:nvPr/>
        </p:nvSpPr>
        <p:spPr>
          <a:xfrm>
            <a:off x="4000500" y="241935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96273"/>
                </a:solidFill>
              </a:defRPr>
            </a:pPr>
            <a:r>
              <a:rPr sz="1575" b="0">
                <a:solidFill>
                  <a:srgbClr val="596273"/>
                </a:solidFill>
              </a:rPr>
              <a:t>Solo módulos necesarios para cada rol.</a:t>
            </a:r>
          </a:p>
        </p:txBody>
      </p:sp>
      <p:sp>
        <p:nvSpPr>
          <p:cNvPr id="14" name="check-square">
            <a:extLst>
              <a:ext uri="{FF2B5EF4-FFF2-40B4-BE49-F238E27FC236}">
                <a16:creationId xmlns:a16="http://schemas.microsoft.com/office/drawing/2014/main" id="{095FD45C-28C2-4508-A82E-CBB66909EDD0}"/>
              </a:ext>
            </a:extLst>
          </p:cNvPr>
          <p:cNvSpPr>
            <a:spLocks noGrp="1"/>
          </p:cNvSpPr>
          <p:nvPr/>
        </p:nvSpPr>
        <p:spPr>
          <a:xfrm>
            <a:off x="571500" y="3162300"/>
            <a:ext cx="323850" cy="323850"/>
          </a:xfrm>
          <a:prstGeom prst="rect">
            <a:avLst/>
          </a:prstGeom>
          <a:solidFill>
            <a:srgbClr val="119447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check">
            <a:extLst>
              <a:ext uri="{FF2B5EF4-FFF2-40B4-BE49-F238E27FC236}">
                <a16:creationId xmlns:a16="http://schemas.microsoft.com/office/drawing/2014/main" id="{10858F25-6E3F-48C8-B62C-EBDED05B6D5C}"/>
              </a:ext>
            </a:extLst>
          </p:cNvPr>
          <p:cNvSpPr>
            <a:spLocks noGrp="1"/>
          </p:cNvSpPr>
          <p:nvPr/>
        </p:nvSpPr>
        <p:spPr>
          <a:xfrm>
            <a:off x="571500" y="31813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check-head">
            <a:extLst>
              <a:ext uri="{FF2B5EF4-FFF2-40B4-BE49-F238E27FC236}">
                <a16:creationId xmlns:a16="http://schemas.microsoft.com/office/drawing/2014/main" id="{B205F2B8-E7DE-4C73-A2F9-6EE2FFBEC962}"/>
              </a:ext>
            </a:extLst>
          </p:cNvPr>
          <p:cNvSpPr>
            <a:spLocks noGrp="1"/>
          </p:cNvSpPr>
          <p:nvPr/>
        </p:nvSpPr>
        <p:spPr>
          <a:xfrm>
            <a:off x="1104900" y="3143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Cliente completo</a:t>
            </a:r>
          </a:p>
        </p:txBody>
      </p:sp>
      <p:sp>
        <p:nvSpPr>
          <p:cNvPr id="17" name="check-body">
            <a:extLst>
              <a:ext uri="{FF2B5EF4-FFF2-40B4-BE49-F238E27FC236}">
                <a16:creationId xmlns:a16="http://schemas.microsoft.com/office/drawing/2014/main" id="{70D7AD7A-5300-477E-867E-F9B7EFFD339B}"/>
              </a:ext>
            </a:extLst>
          </p:cNvPr>
          <p:cNvSpPr>
            <a:spLocks noGrp="1"/>
          </p:cNvSpPr>
          <p:nvPr/>
        </p:nvSpPr>
        <p:spPr>
          <a:xfrm>
            <a:off x="4000500" y="31623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96273"/>
                </a:solidFill>
              </a:defRPr>
            </a:pPr>
            <a:r>
              <a:rPr sz="1575" b="0">
                <a:solidFill>
                  <a:srgbClr val="596273"/>
                </a:solidFill>
              </a:rPr>
              <a:t>Pedidos con producto, precio y total.</a:t>
            </a:r>
          </a:p>
        </p:txBody>
      </p:sp>
      <p:sp>
        <p:nvSpPr>
          <p:cNvPr id="18" name="check-square">
            <a:extLst>
              <a:ext uri="{FF2B5EF4-FFF2-40B4-BE49-F238E27FC236}">
                <a16:creationId xmlns:a16="http://schemas.microsoft.com/office/drawing/2014/main" id="{A8E3A856-E623-41ED-B998-6879AB2C8CC6}"/>
              </a:ext>
            </a:extLst>
          </p:cNvPr>
          <p:cNvSpPr>
            <a:spLocks noGrp="1"/>
          </p:cNvSpPr>
          <p:nvPr/>
        </p:nvSpPr>
        <p:spPr>
          <a:xfrm>
            <a:off x="571500" y="3905250"/>
            <a:ext cx="323850" cy="323850"/>
          </a:xfrm>
          <a:prstGeom prst="rect">
            <a:avLst/>
          </a:prstGeom>
          <a:solidFill>
            <a:srgbClr val="119447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check">
            <a:extLst>
              <a:ext uri="{FF2B5EF4-FFF2-40B4-BE49-F238E27FC236}">
                <a16:creationId xmlns:a16="http://schemas.microsoft.com/office/drawing/2014/main" id="{067D06C2-311E-4A7B-9362-83CA2F1E4DDE}"/>
              </a:ext>
            </a:extLst>
          </p:cNvPr>
          <p:cNvSpPr>
            <a:spLocks noGrp="1"/>
          </p:cNvSpPr>
          <p:nvPr/>
        </p:nvSpPr>
        <p:spPr>
          <a:xfrm>
            <a:off x="571500" y="39243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check-head">
            <a:extLst>
              <a:ext uri="{FF2B5EF4-FFF2-40B4-BE49-F238E27FC236}">
                <a16:creationId xmlns:a16="http://schemas.microsoft.com/office/drawing/2014/main" id="{770F5953-90F3-4ACA-B471-4EC21E66CCB0}"/>
              </a:ext>
            </a:extLst>
          </p:cNvPr>
          <p:cNvSpPr>
            <a:spLocks noGrp="1"/>
          </p:cNvSpPr>
          <p:nvPr/>
        </p:nvSpPr>
        <p:spPr>
          <a:xfrm>
            <a:off x="1104900" y="38862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Datos persistentes</a:t>
            </a:r>
          </a:p>
        </p:txBody>
      </p:sp>
      <p:sp>
        <p:nvSpPr>
          <p:cNvPr id="21" name="check-body">
            <a:extLst>
              <a:ext uri="{FF2B5EF4-FFF2-40B4-BE49-F238E27FC236}">
                <a16:creationId xmlns:a16="http://schemas.microsoft.com/office/drawing/2014/main" id="{08E1F096-6CC4-4EBE-82CF-EA8F5B7329BB}"/>
              </a:ext>
            </a:extLst>
          </p:cNvPr>
          <p:cNvSpPr>
            <a:spLocks noGrp="1"/>
          </p:cNvSpPr>
          <p:nvPr/>
        </p:nvSpPr>
        <p:spPr>
          <a:xfrm>
            <a:off x="4000500" y="390525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96273"/>
                </a:solidFill>
              </a:defRPr>
            </a:pPr>
            <a:r>
              <a:rPr sz="1575" b="0">
                <a:solidFill>
                  <a:srgbClr val="596273"/>
                </a:solidFill>
              </a:rPr>
              <a:t>La sesión y registros se mantienen.</a:t>
            </a:r>
          </a:p>
        </p:txBody>
      </p:sp>
      <p:sp>
        <p:nvSpPr>
          <p:cNvPr id="22" name="check-square">
            <a:extLst>
              <a:ext uri="{FF2B5EF4-FFF2-40B4-BE49-F238E27FC236}">
                <a16:creationId xmlns:a16="http://schemas.microsoft.com/office/drawing/2014/main" id="{3322731A-7236-4D2B-AA69-CFC6CE25F009}"/>
              </a:ext>
            </a:extLst>
          </p:cNvPr>
          <p:cNvSpPr>
            <a:spLocks noGrp="1"/>
          </p:cNvSpPr>
          <p:nvPr/>
        </p:nvSpPr>
        <p:spPr>
          <a:xfrm>
            <a:off x="571500" y="4648200"/>
            <a:ext cx="323850" cy="323850"/>
          </a:xfrm>
          <a:prstGeom prst="rect">
            <a:avLst/>
          </a:prstGeom>
          <a:solidFill>
            <a:srgbClr val="119447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check">
            <a:extLst>
              <a:ext uri="{FF2B5EF4-FFF2-40B4-BE49-F238E27FC236}">
                <a16:creationId xmlns:a16="http://schemas.microsoft.com/office/drawing/2014/main" id="{77935503-8E27-4B99-9EF4-AF4CEFA21283}"/>
              </a:ext>
            </a:extLst>
          </p:cNvPr>
          <p:cNvSpPr>
            <a:spLocks noGrp="1"/>
          </p:cNvSpPr>
          <p:nvPr/>
        </p:nvSpPr>
        <p:spPr>
          <a:xfrm>
            <a:off x="571500" y="46672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check-head">
            <a:extLst>
              <a:ext uri="{FF2B5EF4-FFF2-40B4-BE49-F238E27FC236}">
                <a16:creationId xmlns:a16="http://schemas.microsoft.com/office/drawing/2014/main" id="{9770EAA4-72CF-43D7-8995-8EAD0B86DFF5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Pruebas técnicas</a:t>
            </a:r>
          </a:p>
        </p:txBody>
      </p:sp>
      <p:sp>
        <p:nvSpPr>
          <p:cNvPr id="25" name="check-body">
            <a:extLst>
              <a:ext uri="{FF2B5EF4-FFF2-40B4-BE49-F238E27FC236}">
                <a16:creationId xmlns:a16="http://schemas.microsoft.com/office/drawing/2014/main" id="{57A7FC08-1CC3-47E7-87F7-76F106AD2906}"/>
              </a:ext>
            </a:extLst>
          </p:cNvPr>
          <p:cNvSpPr>
            <a:spLocks noGrp="1"/>
          </p:cNvSpPr>
          <p:nvPr/>
        </p:nvSpPr>
        <p:spPr>
          <a:xfrm>
            <a:off x="4000500" y="46482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596273"/>
                </a:solidFill>
              </a:defRPr>
            </a:pPr>
            <a:r>
              <a:rPr sz="1575" b="0">
                <a:solidFill>
                  <a:srgbClr val="596273"/>
                </a:solidFill>
              </a:rPr>
              <a:t>Módulos y botones principales sin referencias rotas.</a:t>
            </a:r>
          </a:p>
        </p:txBody>
      </p:sp>
    </p:spTree>
    <p:extLst>
      <p:ext uri="{BB962C8B-B14F-4D97-AF65-F5344CB8AC3E}">
        <p14:creationId xmlns:p14="http://schemas.microsoft.com/office/powerpoint/2010/main" val="1639240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5589D740-2150-49CB-B9C0-ABAF848C9F5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Guion recomendado para la demostración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7CEE7221-219B-45FC-AFDC-3C90DBF5615A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96273"/>
                </a:solidFill>
              </a:defRPr>
            </a:pPr>
            <a:r>
              <a:rPr sz="1500" b="0">
                <a:solidFill>
                  <a:srgbClr val="596273"/>
                </a:solidFill>
              </a:rPr>
              <a:t>Qué mostrar en vivo para que el sistema se entienda rápido.</a:t>
            </a:r>
          </a:p>
        </p:txBody>
      </p:sp>
      <p:sp>
        <p:nvSpPr>
          <p:cNvPr id="3" name="accent-rule">
            <a:extLst>
              <a:ext uri="{FF2B5EF4-FFF2-40B4-BE49-F238E27FC236}">
                <a16:creationId xmlns:a16="http://schemas.microsoft.com/office/drawing/2014/main" id="{1F8266EA-286A-4A35-A89C-B1A1671C5BF8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876300" cy="47625"/>
          </a:xfrm>
          <a:prstGeom prst="rect">
            <a:avLst/>
          </a:prstGeom>
          <a:solidFill>
            <a:srgbClr val="D61023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footer-brand">
            <a:extLst>
              <a:ext uri="{FF2B5EF4-FFF2-40B4-BE49-F238E27FC236}">
                <a16:creationId xmlns:a16="http://schemas.microsoft.com/office/drawing/2014/main" id="{C627A98F-3EB6-4C7D-A517-524A76233D92}"/>
              </a:ext>
            </a:extLst>
          </p:cNvPr>
          <p:cNvSpPr>
            <a:spLocks noGrp="1"/>
          </p:cNvSpPr>
          <p:nvPr/>
        </p:nvSpPr>
        <p:spPr>
          <a:xfrm>
            <a:off x="400050" y="63341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SIG-GLORIA</a:t>
            </a:r>
          </a:p>
        </p:txBody>
      </p:sp>
      <p:sp>
        <p:nvSpPr>
          <p:cNvPr id="5" name="footer-num">
            <a:extLst>
              <a:ext uri="{FF2B5EF4-FFF2-40B4-BE49-F238E27FC236}">
                <a16:creationId xmlns:a16="http://schemas.microsoft.com/office/drawing/2014/main" id="{C32EF5AB-2CE9-4946-8973-9D412668CC07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>
                <a:solidFill>
                  <a:srgbClr val="596273"/>
                </a:solidFill>
              </a:defRPr>
            </a:pPr>
            <a:r>
              <a:rPr sz="1125" b="0">
                <a:solidFill>
                  <a:srgbClr val="596273"/>
                </a:solidFill>
              </a:rPr>
              <a:t>10</a:t>
            </a:r>
          </a:p>
        </p:txBody>
      </p:sp>
      <p:sp>
        <p:nvSpPr>
          <p:cNvPr id="6" name="demo-num">
            <a:extLst>
              <a:ext uri="{FF2B5EF4-FFF2-40B4-BE49-F238E27FC236}">
                <a16:creationId xmlns:a16="http://schemas.microsoft.com/office/drawing/2014/main" id="{0384CD0C-19E2-444D-A883-779E5FD4173D}"/>
              </a:ext>
            </a:extLst>
          </p:cNvPr>
          <p:cNvSpPr>
            <a:spLocks noGrp="1"/>
          </p:cNvSpPr>
          <p:nvPr/>
        </p:nvSpPr>
        <p:spPr>
          <a:xfrm>
            <a:off x="571500" y="1562100"/>
            <a:ext cx="41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D61023"/>
                </a:solidFill>
              </a:defRPr>
            </a:pPr>
            <a:r>
              <a:rPr sz="2100" b="1">
                <a:solidFill>
                  <a:srgbClr val="D61023"/>
                </a:solidFill>
              </a:rPr>
              <a:t>1</a:t>
            </a:r>
          </a:p>
        </p:txBody>
      </p:sp>
      <p:sp>
        <p:nvSpPr>
          <p:cNvPr id="7" name="demo-head">
            <a:extLst>
              <a:ext uri="{FF2B5EF4-FFF2-40B4-BE49-F238E27FC236}">
                <a16:creationId xmlns:a16="http://schemas.microsoft.com/office/drawing/2014/main" id="{287E4519-199F-4FBD-A84A-9A9E1452DBFE}"/>
              </a:ext>
            </a:extLst>
          </p:cNvPr>
          <p:cNvSpPr>
            <a:spLocks noGrp="1"/>
          </p:cNvSpPr>
          <p:nvPr/>
        </p:nvSpPr>
        <p:spPr>
          <a:xfrm>
            <a:off x="1238250" y="15621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Ingresar como administrador</a:t>
            </a:r>
          </a:p>
        </p:txBody>
      </p:sp>
      <p:sp>
        <p:nvSpPr>
          <p:cNvPr id="8" name="demo-body">
            <a:extLst>
              <a:ext uri="{FF2B5EF4-FFF2-40B4-BE49-F238E27FC236}">
                <a16:creationId xmlns:a16="http://schemas.microsoft.com/office/drawing/2014/main" id="{A28F0205-36BD-4256-A305-44DEE3EDD347}"/>
              </a:ext>
            </a:extLst>
          </p:cNvPr>
          <p:cNvSpPr>
            <a:spLocks noGrp="1"/>
          </p:cNvSpPr>
          <p:nvPr/>
        </p:nvSpPr>
        <p:spPr>
          <a:xfrm>
            <a:off x="4762500" y="1581150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96273"/>
                </a:solidFill>
              </a:defRPr>
            </a:pPr>
            <a:r>
              <a:rPr sz="1650" b="0">
                <a:solidFill>
                  <a:srgbClr val="596273"/>
                </a:solidFill>
              </a:rPr>
              <a:t>Mostrar Dashboard y menú interno.</a:t>
            </a:r>
          </a:p>
        </p:txBody>
      </p:sp>
      <p:sp>
        <p:nvSpPr>
          <p:cNvPr id="9" name="demo-rule">
            <a:extLst>
              <a:ext uri="{FF2B5EF4-FFF2-40B4-BE49-F238E27FC236}">
                <a16:creationId xmlns:a16="http://schemas.microsoft.com/office/drawing/2014/main" id="{76EC31E6-4D0A-4B50-98DA-A3BFE2B41D62}"/>
              </a:ext>
            </a:extLst>
          </p:cNvPr>
          <p:cNvSpPr>
            <a:spLocks noGrp="1"/>
          </p:cNvSpPr>
          <p:nvPr/>
        </p:nvSpPr>
        <p:spPr>
          <a:xfrm>
            <a:off x="552450" y="2057400"/>
            <a:ext cx="1028700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demo-num">
            <a:extLst>
              <a:ext uri="{FF2B5EF4-FFF2-40B4-BE49-F238E27FC236}">
                <a16:creationId xmlns:a16="http://schemas.microsoft.com/office/drawing/2014/main" id="{954D7205-A414-4E67-A100-0A9F58239652}"/>
              </a:ext>
            </a:extLst>
          </p:cNvPr>
          <p:cNvSpPr>
            <a:spLocks noGrp="1"/>
          </p:cNvSpPr>
          <p:nvPr/>
        </p:nvSpPr>
        <p:spPr>
          <a:xfrm>
            <a:off x="571500" y="2228850"/>
            <a:ext cx="41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D61023"/>
                </a:solidFill>
              </a:defRPr>
            </a:pPr>
            <a:r>
              <a:rPr sz="2100" b="1">
                <a:solidFill>
                  <a:srgbClr val="D61023"/>
                </a:solidFill>
              </a:rPr>
              <a:t>2</a:t>
            </a:r>
          </a:p>
        </p:txBody>
      </p:sp>
      <p:sp>
        <p:nvSpPr>
          <p:cNvPr id="11" name="demo-head">
            <a:extLst>
              <a:ext uri="{FF2B5EF4-FFF2-40B4-BE49-F238E27FC236}">
                <a16:creationId xmlns:a16="http://schemas.microsoft.com/office/drawing/2014/main" id="{E21D31C6-AFC4-48D9-A421-A90C17894BCE}"/>
              </a:ext>
            </a:extLst>
          </p:cNvPr>
          <p:cNvSpPr>
            <a:spLocks noGrp="1"/>
          </p:cNvSpPr>
          <p:nvPr/>
        </p:nvSpPr>
        <p:spPr>
          <a:xfrm>
            <a:off x="1238250" y="22288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Registrar un dato</a:t>
            </a:r>
          </a:p>
        </p:txBody>
      </p:sp>
      <p:sp>
        <p:nvSpPr>
          <p:cNvPr id="12" name="demo-body">
            <a:extLst>
              <a:ext uri="{FF2B5EF4-FFF2-40B4-BE49-F238E27FC236}">
                <a16:creationId xmlns:a16="http://schemas.microsoft.com/office/drawing/2014/main" id="{B83C1061-85AE-4161-B267-E554CB822D21}"/>
              </a:ext>
            </a:extLst>
          </p:cNvPr>
          <p:cNvSpPr>
            <a:spLocks noGrp="1"/>
          </p:cNvSpPr>
          <p:nvPr/>
        </p:nvSpPr>
        <p:spPr>
          <a:xfrm>
            <a:off x="4762500" y="2247900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96273"/>
                </a:solidFill>
              </a:defRPr>
            </a:pPr>
            <a:r>
              <a:rPr sz="1650" b="0">
                <a:solidFill>
                  <a:srgbClr val="596273"/>
                </a:solidFill>
              </a:rPr>
              <a:t>Productor, control de calidad, movimiento o pedido.</a:t>
            </a:r>
          </a:p>
        </p:txBody>
      </p:sp>
      <p:sp>
        <p:nvSpPr>
          <p:cNvPr id="13" name="demo-rule">
            <a:extLst>
              <a:ext uri="{FF2B5EF4-FFF2-40B4-BE49-F238E27FC236}">
                <a16:creationId xmlns:a16="http://schemas.microsoft.com/office/drawing/2014/main" id="{29844B2D-F31B-45CF-B46D-1C808953B599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1028700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demo-num">
            <a:extLst>
              <a:ext uri="{FF2B5EF4-FFF2-40B4-BE49-F238E27FC236}">
                <a16:creationId xmlns:a16="http://schemas.microsoft.com/office/drawing/2014/main" id="{587057FD-2836-4524-AF5B-5F6BF28A74D9}"/>
              </a:ext>
            </a:extLst>
          </p:cNvPr>
          <p:cNvSpPr>
            <a:spLocks noGrp="1"/>
          </p:cNvSpPr>
          <p:nvPr/>
        </p:nvSpPr>
        <p:spPr>
          <a:xfrm>
            <a:off x="571500" y="2895600"/>
            <a:ext cx="41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D61023"/>
                </a:solidFill>
              </a:defRPr>
            </a:pPr>
            <a:r>
              <a:rPr sz="2100" b="1">
                <a:solidFill>
                  <a:srgbClr val="D61023"/>
                </a:solidFill>
              </a:rPr>
              <a:t>3</a:t>
            </a:r>
          </a:p>
        </p:txBody>
      </p:sp>
      <p:sp>
        <p:nvSpPr>
          <p:cNvPr id="15" name="demo-head">
            <a:extLst>
              <a:ext uri="{FF2B5EF4-FFF2-40B4-BE49-F238E27FC236}">
                <a16:creationId xmlns:a16="http://schemas.microsoft.com/office/drawing/2014/main" id="{D35A2EF7-623F-4802-B519-E3FA72F954AF}"/>
              </a:ext>
            </a:extLst>
          </p:cNvPr>
          <p:cNvSpPr>
            <a:spLocks noGrp="1"/>
          </p:cNvSpPr>
          <p:nvPr/>
        </p:nvSpPr>
        <p:spPr>
          <a:xfrm>
            <a:off x="1238250" y="28956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Abrir acciones</a:t>
            </a:r>
          </a:p>
        </p:txBody>
      </p:sp>
      <p:sp>
        <p:nvSpPr>
          <p:cNvPr id="16" name="demo-body">
            <a:extLst>
              <a:ext uri="{FF2B5EF4-FFF2-40B4-BE49-F238E27FC236}">
                <a16:creationId xmlns:a16="http://schemas.microsoft.com/office/drawing/2014/main" id="{DB5663DF-6404-4163-B72D-F0E36EC327CA}"/>
              </a:ext>
            </a:extLst>
          </p:cNvPr>
          <p:cNvSpPr>
            <a:spLocks noGrp="1"/>
          </p:cNvSpPr>
          <p:nvPr/>
        </p:nvSpPr>
        <p:spPr>
          <a:xfrm>
            <a:off x="4762500" y="2914650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96273"/>
                </a:solidFill>
              </a:defRPr>
            </a:pPr>
            <a:r>
              <a:rPr sz="1650" b="0">
                <a:solidFill>
                  <a:srgbClr val="596273"/>
                </a:solidFill>
              </a:rPr>
              <a:t>Usar Ver, Editar o Comprobante.</a:t>
            </a:r>
          </a:p>
        </p:txBody>
      </p:sp>
      <p:sp>
        <p:nvSpPr>
          <p:cNvPr id="17" name="demo-rule">
            <a:extLst>
              <a:ext uri="{FF2B5EF4-FFF2-40B4-BE49-F238E27FC236}">
                <a16:creationId xmlns:a16="http://schemas.microsoft.com/office/drawing/2014/main" id="{1D3AFB97-DABB-42AC-9951-6C1263379717}"/>
              </a:ext>
            </a:extLst>
          </p:cNvPr>
          <p:cNvSpPr>
            <a:spLocks noGrp="1"/>
          </p:cNvSpPr>
          <p:nvPr/>
        </p:nvSpPr>
        <p:spPr>
          <a:xfrm>
            <a:off x="552450" y="3390900"/>
            <a:ext cx="1028700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demo-num">
            <a:extLst>
              <a:ext uri="{FF2B5EF4-FFF2-40B4-BE49-F238E27FC236}">
                <a16:creationId xmlns:a16="http://schemas.microsoft.com/office/drawing/2014/main" id="{DA8F9708-120C-4C71-ADEE-361BEE8CF0E0}"/>
              </a:ext>
            </a:extLst>
          </p:cNvPr>
          <p:cNvSpPr>
            <a:spLocks noGrp="1"/>
          </p:cNvSpPr>
          <p:nvPr/>
        </p:nvSpPr>
        <p:spPr>
          <a:xfrm>
            <a:off x="571500" y="3562350"/>
            <a:ext cx="41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D61023"/>
                </a:solidFill>
              </a:defRPr>
            </a:pPr>
            <a:r>
              <a:rPr sz="2100" b="1">
                <a:solidFill>
                  <a:srgbClr val="D61023"/>
                </a:solidFill>
              </a:rPr>
              <a:t>4</a:t>
            </a:r>
          </a:p>
        </p:txBody>
      </p:sp>
      <p:sp>
        <p:nvSpPr>
          <p:cNvPr id="19" name="demo-head">
            <a:extLst>
              <a:ext uri="{FF2B5EF4-FFF2-40B4-BE49-F238E27FC236}">
                <a16:creationId xmlns:a16="http://schemas.microsoft.com/office/drawing/2014/main" id="{69C26DC3-36B9-4B20-B32F-C51815F13A2F}"/>
              </a:ext>
            </a:extLst>
          </p:cNvPr>
          <p:cNvSpPr>
            <a:spLocks noGrp="1"/>
          </p:cNvSpPr>
          <p:nvPr/>
        </p:nvSpPr>
        <p:spPr>
          <a:xfrm>
            <a:off x="1238250" y="35623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Cerrar sesión</a:t>
            </a:r>
          </a:p>
        </p:txBody>
      </p:sp>
      <p:sp>
        <p:nvSpPr>
          <p:cNvPr id="20" name="demo-body">
            <a:extLst>
              <a:ext uri="{FF2B5EF4-FFF2-40B4-BE49-F238E27FC236}">
                <a16:creationId xmlns:a16="http://schemas.microsoft.com/office/drawing/2014/main" id="{493AB48D-23E1-4903-A276-99FD0F801390}"/>
              </a:ext>
            </a:extLst>
          </p:cNvPr>
          <p:cNvSpPr>
            <a:spLocks noGrp="1"/>
          </p:cNvSpPr>
          <p:nvPr/>
        </p:nvSpPr>
        <p:spPr>
          <a:xfrm>
            <a:off x="4762500" y="3581400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96273"/>
                </a:solidFill>
              </a:defRPr>
            </a:pPr>
            <a:r>
              <a:rPr sz="1650" b="0">
                <a:solidFill>
                  <a:srgbClr val="596273"/>
                </a:solidFill>
              </a:rPr>
              <a:t>Entrar como cliente o crear cuenta.</a:t>
            </a:r>
          </a:p>
        </p:txBody>
      </p:sp>
      <p:sp>
        <p:nvSpPr>
          <p:cNvPr id="21" name="demo-rule">
            <a:extLst>
              <a:ext uri="{FF2B5EF4-FFF2-40B4-BE49-F238E27FC236}">
                <a16:creationId xmlns:a16="http://schemas.microsoft.com/office/drawing/2014/main" id="{4346303E-C3FB-428A-966D-82E63B071861}"/>
              </a:ext>
            </a:extLst>
          </p:cNvPr>
          <p:cNvSpPr>
            <a:spLocks noGrp="1"/>
          </p:cNvSpPr>
          <p:nvPr/>
        </p:nvSpPr>
        <p:spPr>
          <a:xfrm>
            <a:off x="552450" y="4057650"/>
            <a:ext cx="1028700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demo-num">
            <a:extLst>
              <a:ext uri="{FF2B5EF4-FFF2-40B4-BE49-F238E27FC236}">
                <a16:creationId xmlns:a16="http://schemas.microsoft.com/office/drawing/2014/main" id="{99280743-6BE8-4007-952E-3C35EBA769C0}"/>
              </a:ext>
            </a:extLst>
          </p:cNvPr>
          <p:cNvSpPr>
            <a:spLocks noGrp="1"/>
          </p:cNvSpPr>
          <p:nvPr/>
        </p:nvSpPr>
        <p:spPr>
          <a:xfrm>
            <a:off x="571500" y="4229100"/>
            <a:ext cx="41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D61023"/>
                </a:solidFill>
              </a:defRPr>
            </a:pPr>
            <a:r>
              <a:rPr sz="2100" b="1">
                <a:solidFill>
                  <a:srgbClr val="D61023"/>
                </a:solidFill>
              </a:rPr>
              <a:t>5</a:t>
            </a:r>
          </a:p>
        </p:txBody>
      </p:sp>
      <p:sp>
        <p:nvSpPr>
          <p:cNvPr id="23" name="demo-head">
            <a:extLst>
              <a:ext uri="{FF2B5EF4-FFF2-40B4-BE49-F238E27FC236}">
                <a16:creationId xmlns:a16="http://schemas.microsoft.com/office/drawing/2014/main" id="{F08B4316-309B-4E3F-9C7B-E63F793EB194}"/>
              </a:ext>
            </a:extLst>
          </p:cNvPr>
          <p:cNvSpPr>
            <a:spLocks noGrp="1"/>
          </p:cNvSpPr>
          <p:nvPr/>
        </p:nvSpPr>
        <p:spPr>
          <a:xfrm>
            <a:off x="1238250" y="42291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Solicitar pedido</a:t>
            </a:r>
          </a:p>
        </p:txBody>
      </p:sp>
      <p:sp>
        <p:nvSpPr>
          <p:cNvPr id="24" name="demo-body">
            <a:extLst>
              <a:ext uri="{FF2B5EF4-FFF2-40B4-BE49-F238E27FC236}">
                <a16:creationId xmlns:a16="http://schemas.microsoft.com/office/drawing/2014/main" id="{7652B848-2F97-4FE8-ACA0-1EB92A247A6D}"/>
              </a:ext>
            </a:extLst>
          </p:cNvPr>
          <p:cNvSpPr>
            <a:spLocks noGrp="1"/>
          </p:cNvSpPr>
          <p:nvPr/>
        </p:nvSpPr>
        <p:spPr>
          <a:xfrm>
            <a:off x="4762500" y="4248150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96273"/>
                </a:solidFill>
              </a:defRPr>
            </a:pPr>
            <a:r>
              <a:rPr sz="1650" b="0">
                <a:solidFill>
                  <a:srgbClr val="596273"/>
                </a:solidFill>
              </a:rPr>
              <a:t>Elegir producto Gloria, cantidad, precio y total.</a:t>
            </a:r>
          </a:p>
        </p:txBody>
      </p:sp>
      <p:sp>
        <p:nvSpPr>
          <p:cNvPr id="25" name="demo-rule">
            <a:extLst>
              <a:ext uri="{FF2B5EF4-FFF2-40B4-BE49-F238E27FC236}">
                <a16:creationId xmlns:a16="http://schemas.microsoft.com/office/drawing/2014/main" id="{A9ED2093-BCA6-456A-AEDD-975F0A3EE744}"/>
              </a:ext>
            </a:extLst>
          </p:cNvPr>
          <p:cNvSpPr>
            <a:spLocks noGrp="1"/>
          </p:cNvSpPr>
          <p:nvPr/>
        </p:nvSpPr>
        <p:spPr>
          <a:xfrm>
            <a:off x="552450" y="4724400"/>
            <a:ext cx="1028700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demo-num">
            <a:extLst>
              <a:ext uri="{FF2B5EF4-FFF2-40B4-BE49-F238E27FC236}">
                <a16:creationId xmlns:a16="http://schemas.microsoft.com/office/drawing/2014/main" id="{2DD5540D-8872-4CC9-9AFD-0C868FF25D8D}"/>
              </a:ext>
            </a:extLst>
          </p:cNvPr>
          <p:cNvSpPr>
            <a:spLocks noGrp="1"/>
          </p:cNvSpPr>
          <p:nvPr/>
        </p:nvSpPr>
        <p:spPr>
          <a:xfrm>
            <a:off x="571500" y="4895850"/>
            <a:ext cx="41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D61023"/>
                </a:solidFill>
              </a:defRPr>
            </a:pPr>
            <a:r>
              <a:rPr sz="2100" b="1">
                <a:solidFill>
                  <a:srgbClr val="D61023"/>
                </a:solidFill>
              </a:rPr>
              <a:t>6</a:t>
            </a:r>
          </a:p>
        </p:txBody>
      </p:sp>
      <p:sp>
        <p:nvSpPr>
          <p:cNvPr id="27" name="demo-head">
            <a:extLst>
              <a:ext uri="{FF2B5EF4-FFF2-40B4-BE49-F238E27FC236}">
                <a16:creationId xmlns:a16="http://schemas.microsoft.com/office/drawing/2014/main" id="{DB7545F6-D1F2-40EA-87CA-497AFDA79BC9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Cerrar explicación</a:t>
            </a:r>
          </a:p>
        </p:txBody>
      </p:sp>
      <p:sp>
        <p:nvSpPr>
          <p:cNvPr id="28" name="demo-body">
            <a:extLst>
              <a:ext uri="{FF2B5EF4-FFF2-40B4-BE49-F238E27FC236}">
                <a16:creationId xmlns:a16="http://schemas.microsoft.com/office/drawing/2014/main" id="{3F6F044E-96C1-4E84-9099-446E5C3CD392}"/>
              </a:ext>
            </a:extLst>
          </p:cNvPr>
          <p:cNvSpPr>
            <a:spLocks noGrp="1"/>
          </p:cNvSpPr>
          <p:nvPr/>
        </p:nvSpPr>
        <p:spPr>
          <a:xfrm>
            <a:off x="4762500" y="4914900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96273"/>
                </a:solidFill>
              </a:defRPr>
            </a:pPr>
            <a:r>
              <a:rPr sz="1650" b="0">
                <a:solidFill>
                  <a:srgbClr val="596273"/>
                </a:solidFill>
              </a:rPr>
              <a:t>Resaltar trazabilidad y roles.</a:t>
            </a:r>
          </a:p>
        </p:txBody>
      </p:sp>
      <p:sp>
        <p:nvSpPr>
          <p:cNvPr id="29" name="demo-rule">
            <a:extLst>
              <a:ext uri="{FF2B5EF4-FFF2-40B4-BE49-F238E27FC236}">
                <a16:creationId xmlns:a16="http://schemas.microsoft.com/office/drawing/2014/main" id="{9F872ECB-50FE-49E5-85DC-2BE73A38F493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028700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closing">
            <a:extLst>
              <a:ext uri="{FF2B5EF4-FFF2-40B4-BE49-F238E27FC236}">
                <a16:creationId xmlns:a16="http://schemas.microsoft.com/office/drawing/2014/main" id="{C425DBDE-39FF-4B51-80A3-883B2690F6E6}"/>
              </a:ext>
            </a:extLst>
          </p:cNvPr>
          <p:cNvSpPr>
            <a:spLocks noGrp="1"/>
          </p:cNvSpPr>
          <p:nvPr/>
        </p:nvSpPr>
        <p:spPr>
          <a:xfrm>
            <a:off x="571500" y="57150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D61023"/>
                </a:solidFill>
              </a:defRPr>
            </a:pPr>
            <a:r>
              <a:rPr sz="1800" b="1">
                <a:solidFill>
                  <a:srgbClr val="D61023"/>
                </a:solidFill>
              </a:rPr>
              <a:t>Cierre: SIG-GLORIA integra áreas clave y permite demostrar un flujo real desde operación interna hasta pedido del cliente.</a:t>
            </a:r>
          </a:p>
        </p:txBody>
      </p:sp>
    </p:spTree>
    <p:extLst>
      <p:ext uri="{BB962C8B-B14F-4D97-AF65-F5344CB8AC3E}">
        <p14:creationId xmlns:p14="http://schemas.microsoft.com/office/powerpoint/2010/main" val="20780018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1084</Words>
  <Application>Microsoft Office PowerPoint</Application>
  <DocSecurity>0</DocSecurity>
  <PresentationFormat>Panorámica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Diego Lucero</cp:lastModifiedBy>
  <cp:revision>1</cp:revision>
  <dcterms:created xsi:type="dcterms:W3CDTF">2026-07-01T01:06:44Z</dcterms:created>
  <dcterms:modified xsi:type="dcterms:W3CDTF">2026-07-01T18:50:03Z</dcterms:modified>
</cp:coreProperties>
</file>